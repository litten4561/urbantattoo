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6858000" cx="12192000"/>
  <p:notesSz cx="6858000" cy="9144000"/>
  <p:embeddedFontLst>
    <p:embeddedFont>
      <p:font typeface="Roboto"/>
      <p:regular r:id="rId30"/>
      <p:bold r:id="rId31"/>
      <p:italic r:id="rId32"/>
      <p:boldItalic r:id="rId33"/>
    </p:embeddedFont>
    <p:embeddedFont>
      <p:font typeface="Work Sans"/>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8" roundtripDataSignature="AMtx7mhWjaumhk4Hsue3cJcDQyV4iUzAM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9D0FB71-1C29-45FF-A4D8-3420556B600B}">
  <a:tblStyle styleId="{69D0FB71-1C29-45FF-A4D8-3420556B600B}"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FE5F24F0-0950-4391-87F5-8929D5B5EEAF}" styleName="Table_1">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BF1E8"/>
          </a:solidFill>
        </a:fill>
      </a:tcStyle>
    </a:wholeTbl>
    <a:band1H>
      <a:tcTxStyle b="off" i="off"/>
      <a:tcStyle>
        <a:fill>
          <a:solidFill>
            <a:srgbClr val="D4E2CE"/>
          </a:solidFill>
        </a:fill>
      </a:tcStyle>
    </a:band1H>
    <a:band2H>
      <a:tcTxStyle b="off" i="off"/>
    </a:band2H>
    <a:band1V>
      <a:tcTxStyle b="off" i="off"/>
      <a:tcStyle>
        <a:fill>
          <a:solidFill>
            <a:srgbClr val="D4E2CE"/>
          </a:solidFill>
        </a:fill>
      </a:tcStyle>
    </a:band1V>
    <a:band2V>
      <a:tcTxStyle b="off" i="off"/>
    </a:band2V>
    <a:lastCol>
      <a:tcTxStyle b="on" i="off">
        <a:font>
          <a:latin typeface="Arial"/>
          <a:ea typeface="Arial"/>
          <a:cs typeface="Arial"/>
        </a:font>
        <a:schemeClr val="lt1"/>
      </a:tcTxStyle>
      <a:tcStyle>
        <a:fill>
          <a:solidFill>
            <a:schemeClr val="accent6"/>
          </a:solidFill>
        </a:fill>
      </a:tcStyle>
    </a:lastCol>
    <a:firstCol>
      <a:tcTxStyle b="on" i="off">
        <a:font>
          <a:latin typeface="Arial"/>
          <a:ea typeface="Arial"/>
          <a:cs typeface="Arial"/>
        </a:font>
        <a:schemeClr val="lt1"/>
      </a:tcTxStyle>
      <a:tcStyle>
        <a:fill>
          <a:solidFill>
            <a:schemeClr val="accent6"/>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6"/>
          </a:solidFill>
        </a:fill>
      </a:tcStyle>
    </a:lastRow>
    <a:seCell>
      <a:tcTxStyle b="off" i="off"/>
    </a:seCell>
    <a:swCell>
      <a:tcTxStyle b="off" i="off"/>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6"/>
          </a:solidFill>
        </a:fill>
      </a:tcStyle>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bold.fntdata"/><Relationship Id="rId30" Type="http://schemas.openxmlformats.org/officeDocument/2006/relationships/font" Target="fonts/Roboto-regular.fntdata"/><Relationship Id="rId11" Type="http://schemas.openxmlformats.org/officeDocument/2006/relationships/slide" Target="slides/slide6.xml"/><Relationship Id="rId33" Type="http://schemas.openxmlformats.org/officeDocument/2006/relationships/font" Target="fonts/Roboto-boldItalic.fntdata"/><Relationship Id="rId10" Type="http://schemas.openxmlformats.org/officeDocument/2006/relationships/slide" Target="slides/slide5.xml"/><Relationship Id="rId32" Type="http://schemas.openxmlformats.org/officeDocument/2006/relationships/font" Target="fonts/Roboto-italic.fntdata"/><Relationship Id="rId13" Type="http://schemas.openxmlformats.org/officeDocument/2006/relationships/slide" Target="slides/slide8.xml"/><Relationship Id="rId35" Type="http://schemas.openxmlformats.org/officeDocument/2006/relationships/font" Target="fonts/WorkSans-bold.fntdata"/><Relationship Id="rId12" Type="http://schemas.openxmlformats.org/officeDocument/2006/relationships/slide" Target="slides/slide7.xml"/><Relationship Id="rId34" Type="http://schemas.openxmlformats.org/officeDocument/2006/relationships/font" Target="fonts/WorkSans-regular.fntdata"/><Relationship Id="rId15" Type="http://schemas.openxmlformats.org/officeDocument/2006/relationships/slide" Target="slides/slide10.xml"/><Relationship Id="rId37" Type="http://schemas.openxmlformats.org/officeDocument/2006/relationships/font" Target="fonts/WorkSans-boldItalic.fntdata"/><Relationship Id="rId14" Type="http://schemas.openxmlformats.org/officeDocument/2006/relationships/slide" Target="slides/slide9.xml"/><Relationship Id="rId36" Type="http://schemas.openxmlformats.org/officeDocument/2006/relationships/font" Target="fonts/WorkSans-italic.fntdata"/><Relationship Id="rId17" Type="http://schemas.openxmlformats.org/officeDocument/2006/relationships/slide" Target="slides/slide12.xml"/><Relationship Id="rId16" Type="http://schemas.openxmlformats.org/officeDocument/2006/relationships/slide" Target="slides/slide11.xml"/><Relationship Id="rId38" Type="http://customschemas.google.com/relationships/presentationmetadata" Target="meta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 name="Google Shape;9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 name="Google Shape;9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 name="Google Shape;10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 name="Google Shape;10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 name="Google Shape;11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 name="Google Shape;11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9154aa0d2f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 name="Google Shape;125;g39154aa0d2f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7" name="Google Shape;13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9154aa0d2f_0_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3" name="Google Shape;143;g39154aa0d2f_0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9154aa0d2f_1_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0" name="Google Shape;150;g39154aa0d2f_1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9154aa0d2f_1_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9" name="Google Shape;159;g39154aa0d2f_1_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ad7017439e_0_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9" name="Google Shape;169;g3ad7017439e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ad7017439e_0_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5" name="Google Shape;175;g3ad7017439e_0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 name="Google Shape;18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2" name="Google Shape;18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7" name="Google Shape;18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3" name="Google Shape;19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9154aa0d2f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g39154aa0d2f_0_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0" name="Google Shape;200;g39154aa0d2f_0_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9154aa0d2f_4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5" name="Google Shape;205;g39154aa0d2f_4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9154aa0d2f_0_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g39154aa0d2f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ad7017439e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7" name="Google Shape;217;g3ad7017439e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9154aa0d2f_5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3" name="Google Shape;223;g39154aa0d2f_5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9" name="Google Shape;22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9154aa0d2f_4_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4" name="Google Shape;234;g39154aa0d2f_4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9154aa0d2f_4_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0" name="Google Shape;240;g39154aa0d2f_4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apositiva de título">
  <p:cSld name="1_Diapositiva de título">
    <p:spTree>
      <p:nvGrpSpPr>
        <p:cNvPr id="15" name="Shape 15"/>
        <p:cNvGrpSpPr/>
        <p:nvPr/>
      </p:nvGrpSpPr>
      <p:grpSpPr>
        <a:xfrm>
          <a:off x="0" y="0"/>
          <a:ext cx="0" cy="0"/>
          <a:chOff x="0" y="0"/>
          <a:chExt cx="0" cy="0"/>
        </a:xfrm>
      </p:grpSpPr>
      <p:pic>
        <p:nvPicPr>
          <p:cNvPr descr="Interfaz de usuario gráfica, Texto, Aplicación&#10;&#10;Descripción generada automáticamente" id="16" name="Google Shape;16;p21"/>
          <p:cNvPicPr preferRelativeResize="0"/>
          <p:nvPr/>
        </p:nvPicPr>
        <p:blipFill rotWithShape="1">
          <a:blip r:embed="rId2">
            <a:alphaModFix/>
          </a:blip>
          <a:srcRect b="0" l="0" r="0" t="0"/>
          <a:stretch/>
        </p:blipFill>
        <p:spPr>
          <a:xfrm>
            <a:off x="0" y="0"/>
            <a:ext cx="12192000" cy="6858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eño personalizado">
  <p:cSld name="Diseño personalizado">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22" name="Shape 22"/>
        <p:cNvGrpSpPr/>
        <p:nvPr/>
      </p:nvGrpSpPr>
      <p:grpSpPr>
        <a:xfrm>
          <a:off x="0" y="0"/>
          <a:ext cx="0" cy="0"/>
          <a:chOff x="0" y="0"/>
          <a:chExt cx="0" cy="0"/>
        </a:xfrm>
      </p:grpSpPr>
      <p:sp>
        <p:nvSpPr>
          <p:cNvPr id="23" name="Google Shape;23;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26" name="Shape 26"/>
        <p:cNvGrpSpPr/>
        <p:nvPr/>
      </p:nvGrpSpPr>
      <p:grpSpPr>
        <a:xfrm>
          <a:off x="0" y="0"/>
          <a:ext cx="0" cy="0"/>
          <a:chOff x="0" y="0"/>
          <a:chExt cx="0" cy="0"/>
        </a:xfrm>
      </p:grpSpPr>
      <p:sp>
        <p:nvSpPr>
          <p:cNvPr id="27" name="Google Shape;27;p2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2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9" name="Google Shape;29;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32" name="Shape 32"/>
        <p:cNvGrpSpPr/>
        <p:nvPr/>
      </p:nvGrpSpPr>
      <p:grpSpPr>
        <a:xfrm>
          <a:off x="0" y="0"/>
          <a:ext cx="0" cy="0"/>
          <a:chOff x="0" y="0"/>
          <a:chExt cx="0" cy="0"/>
        </a:xfrm>
      </p:grpSpPr>
      <p:sp>
        <p:nvSpPr>
          <p:cNvPr id="33" name="Google Shape;33;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 name="Google Shape;35;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38" name="Shape 38"/>
        <p:cNvGrpSpPr/>
        <p:nvPr/>
      </p:nvGrpSpPr>
      <p:grpSpPr>
        <a:xfrm>
          <a:off x="0" y="0"/>
          <a:ext cx="0" cy="0"/>
          <a:chOff x="0" y="0"/>
          <a:chExt cx="0" cy="0"/>
        </a:xfrm>
      </p:grpSpPr>
      <p:sp>
        <p:nvSpPr>
          <p:cNvPr id="39" name="Google Shape;39;p2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2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1" name="Google Shape;41;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44" name="Shape 44"/>
        <p:cNvGrpSpPr/>
        <p:nvPr/>
      </p:nvGrpSpPr>
      <p:grpSpPr>
        <a:xfrm>
          <a:off x="0" y="0"/>
          <a:ext cx="0" cy="0"/>
          <a:chOff x="0" y="0"/>
          <a:chExt cx="0" cy="0"/>
        </a:xfrm>
      </p:grpSpPr>
      <p:sp>
        <p:nvSpPr>
          <p:cNvPr id="45" name="Google Shape;45;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2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51" name="Shape 51"/>
        <p:cNvGrpSpPr/>
        <p:nvPr/>
      </p:nvGrpSpPr>
      <p:grpSpPr>
        <a:xfrm>
          <a:off x="0" y="0"/>
          <a:ext cx="0" cy="0"/>
          <a:chOff x="0" y="0"/>
          <a:chExt cx="0" cy="0"/>
        </a:xfrm>
      </p:grpSpPr>
      <p:sp>
        <p:nvSpPr>
          <p:cNvPr id="52" name="Google Shape;52;p2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4" name="Google Shape;54;p2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 name="Google Shape;55;p2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6" name="Google Shape;56;p2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 name="Google Shape;57;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60" name="Shape 60"/>
        <p:cNvGrpSpPr/>
        <p:nvPr/>
      </p:nvGrpSpPr>
      <p:grpSpPr>
        <a:xfrm>
          <a:off x="0" y="0"/>
          <a:ext cx="0" cy="0"/>
          <a:chOff x="0" y="0"/>
          <a:chExt cx="0" cy="0"/>
        </a:xfrm>
      </p:grpSpPr>
      <p:sp>
        <p:nvSpPr>
          <p:cNvPr id="61" name="Google Shape;61;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65" name="Shape 65"/>
        <p:cNvGrpSpPr/>
        <p:nvPr/>
      </p:nvGrpSpPr>
      <p:grpSpPr>
        <a:xfrm>
          <a:off x="0" y="0"/>
          <a:ext cx="0" cy="0"/>
          <a:chOff x="0" y="0"/>
          <a:chExt cx="0" cy="0"/>
        </a:xfrm>
      </p:grpSpPr>
      <p:sp>
        <p:nvSpPr>
          <p:cNvPr id="66" name="Google Shape;66;p3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8" name="Google Shape;68;p3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72" name="Shape 72"/>
        <p:cNvGrpSpPr/>
        <p:nvPr/>
      </p:nvGrpSpPr>
      <p:grpSpPr>
        <a:xfrm>
          <a:off x="0" y="0"/>
          <a:ext cx="0" cy="0"/>
          <a:chOff x="0" y="0"/>
          <a:chExt cx="0" cy="0"/>
        </a:xfrm>
      </p:grpSpPr>
      <p:sp>
        <p:nvSpPr>
          <p:cNvPr id="73" name="Google Shape;73;p3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1"/>
          <p:cNvSpPr/>
          <p:nvPr>
            <p:ph idx="2" type="pic"/>
          </p:nvPr>
        </p:nvSpPr>
        <p:spPr>
          <a:xfrm>
            <a:off x="5183188" y="987425"/>
            <a:ext cx="6172200" cy="4873625"/>
          </a:xfrm>
          <a:prstGeom prst="rect">
            <a:avLst/>
          </a:prstGeom>
          <a:noFill/>
          <a:ln>
            <a:noFill/>
          </a:ln>
        </p:spPr>
      </p:sp>
      <p:sp>
        <p:nvSpPr>
          <p:cNvPr id="75" name="Google Shape;75;p3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6" name="Google Shape;76;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79" name="Shape 79"/>
        <p:cNvGrpSpPr/>
        <p:nvPr/>
      </p:nvGrpSpPr>
      <p:grpSpPr>
        <a:xfrm>
          <a:off x="0" y="0"/>
          <a:ext cx="0" cy="0"/>
          <a:chOff x="0" y="0"/>
          <a:chExt cx="0" cy="0"/>
        </a:xfrm>
      </p:grpSpPr>
      <p:sp>
        <p:nvSpPr>
          <p:cNvPr id="80" name="Google Shape;80;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3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85" name="Shape 85"/>
        <p:cNvGrpSpPr/>
        <p:nvPr/>
      </p:nvGrpSpPr>
      <p:grpSpPr>
        <a:xfrm>
          <a:off x="0" y="0"/>
          <a:ext cx="0" cy="0"/>
          <a:chOff x="0" y="0"/>
          <a:chExt cx="0" cy="0"/>
        </a:xfrm>
      </p:grpSpPr>
      <p:sp>
        <p:nvSpPr>
          <p:cNvPr id="86" name="Google Shape;86;p3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3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 name="Google Shape;88;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
          <p:cNvSpPr txBox="1"/>
          <p:nvPr/>
        </p:nvSpPr>
        <p:spPr>
          <a:xfrm>
            <a:off x="995421" y="2551837"/>
            <a:ext cx="8778900" cy="15393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i="0" lang="es-ES" sz="3200" u="none" cap="none" strike="noStrike">
                <a:solidFill>
                  <a:srgbClr val="3F3F3F"/>
                </a:solidFill>
                <a:latin typeface="Calibri"/>
                <a:ea typeface="Calibri"/>
                <a:cs typeface="Calibri"/>
                <a:sym typeface="Calibri"/>
              </a:rPr>
              <a:t>TECNOLOGO EN ANALISIS Y DESARROLLO</a:t>
            </a:r>
            <a:endParaRPr b="1" i="0" sz="3200" u="none" cap="none" strike="noStrike">
              <a:solidFill>
                <a:srgbClr val="3F3F3F"/>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2800"/>
              <a:buFont typeface="Arial"/>
              <a:buNone/>
            </a:pPr>
            <a:r>
              <a:rPr b="1" i="0" lang="es-ES" sz="3200" u="none" cap="none" strike="noStrike">
                <a:solidFill>
                  <a:srgbClr val="3F3F3F"/>
                </a:solidFill>
                <a:latin typeface="Calibri"/>
                <a:ea typeface="Calibri"/>
                <a:cs typeface="Calibri"/>
                <a:sym typeface="Calibri"/>
              </a:rPr>
              <a:t> DE SOFTWARE</a:t>
            </a:r>
            <a:endParaRPr b="0"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544E"/>
              </a:buClr>
              <a:buSzPts val="4400"/>
              <a:buFont typeface="Helvetica Neue"/>
              <a:buNone/>
            </a:pPr>
            <a:r>
              <a:t/>
            </a:r>
            <a:endParaRPr b="1" i="0" sz="3000" u="none" cap="none" strike="noStrike">
              <a:solidFill>
                <a:srgbClr val="3F3F3F"/>
              </a:solidFill>
              <a:latin typeface="Work Sans"/>
              <a:ea typeface="Work Sans"/>
              <a:cs typeface="Work Sans"/>
              <a:sym typeface="Work Sans"/>
            </a:endParaRPr>
          </a:p>
        </p:txBody>
      </p:sp>
      <p:sp>
        <p:nvSpPr>
          <p:cNvPr id="97" name="Google Shape;97;p1"/>
          <p:cNvSpPr txBox="1"/>
          <p:nvPr/>
        </p:nvSpPr>
        <p:spPr>
          <a:xfrm>
            <a:off x="6718917" y="3169327"/>
            <a:ext cx="3055500" cy="554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544E"/>
              </a:buClr>
              <a:buSzPts val="4400"/>
              <a:buFont typeface="Helvetica Neue"/>
              <a:buNone/>
            </a:pPr>
            <a:r>
              <a:t/>
            </a:r>
            <a:endParaRPr b="1" i="0" sz="3000" u="none" cap="none" strike="noStrike">
              <a:solidFill>
                <a:srgbClr val="3F3F3F"/>
              </a:solidFill>
              <a:latin typeface="Work Sans"/>
              <a:ea typeface="Work Sans"/>
              <a:cs typeface="Work Sans"/>
              <a:sym typeface="Work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
          <p:cNvSpPr txBox="1"/>
          <p:nvPr>
            <p:ph type="title"/>
          </p:nvPr>
        </p:nvSpPr>
        <p:spPr>
          <a:xfrm>
            <a:off x="456236" y="110481"/>
            <a:ext cx="10515600"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000000"/>
              </a:buClr>
              <a:buSzPts val="3600"/>
              <a:buFont typeface="Arial"/>
              <a:buNone/>
            </a:pPr>
            <a:r>
              <a:rPr b="1" lang="es-ES">
                <a:solidFill>
                  <a:schemeClr val="lt1"/>
                </a:solidFill>
              </a:rPr>
              <a:t>Presentación del Proyecto</a:t>
            </a:r>
            <a:endParaRPr b="0" i="0" sz="1800" u="none" cap="none" strike="noStrike">
              <a:solidFill>
                <a:srgbClr val="000000"/>
              </a:solidFill>
              <a:latin typeface="Arial"/>
              <a:ea typeface="Arial"/>
              <a:cs typeface="Arial"/>
              <a:sym typeface="Arial"/>
            </a:endParaRPr>
          </a:p>
        </p:txBody>
      </p:sp>
      <p:sp>
        <p:nvSpPr>
          <p:cNvPr id="103" name="Google Shape;103;p2"/>
          <p:cNvSpPr txBox="1"/>
          <p:nvPr/>
        </p:nvSpPr>
        <p:spPr>
          <a:xfrm>
            <a:off x="4560676" y="2557549"/>
            <a:ext cx="2914800" cy="2586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rgbClr val="3F3F3F"/>
              </a:solidFill>
              <a:latin typeface="Calibri"/>
              <a:ea typeface="Calibri"/>
              <a:cs typeface="Calibri"/>
              <a:sym typeface="Calibri"/>
            </a:endParaRPr>
          </a:p>
          <a:p>
            <a:pPr indent="-342900" lvl="0" marL="457200" marR="0" rtl="0" algn="l">
              <a:lnSpc>
                <a:spcPct val="100000"/>
              </a:lnSpc>
              <a:spcBef>
                <a:spcPts val="0"/>
              </a:spcBef>
              <a:spcAft>
                <a:spcPts val="0"/>
              </a:spcAft>
              <a:buClr>
                <a:srgbClr val="3F3F3F"/>
              </a:buClr>
              <a:buSzPts val="1800"/>
              <a:buFont typeface="Calibri"/>
              <a:buChar char="-"/>
            </a:pPr>
            <a:r>
              <a:rPr b="1" i="0" lang="es-ES" sz="1800" u="none" cap="none" strike="noStrike">
                <a:solidFill>
                  <a:srgbClr val="3F3F3F"/>
                </a:solidFill>
                <a:latin typeface="Calibri"/>
                <a:ea typeface="Calibri"/>
                <a:cs typeface="Calibri"/>
                <a:sym typeface="Calibri"/>
              </a:rPr>
              <a:t>Johan Rosales Pira</a:t>
            </a:r>
            <a:endParaRPr b="1" i="0" sz="1800" u="none" cap="none" strike="noStrike">
              <a:solidFill>
                <a:srgbClr val="3F3F3F"/>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3F3F3F"/>
              </a:solidFill>
              <a:latin typeface="Calibri"/>
              <a:ea typeface="Calibri"/>
              <a:cs typeface="Calibri"/>
              <a:sym typeface="Calibri"/>
            </a:endParaRPr>
          </a:p>
          <a:p>
            <a:pPr indent="-342900" lvl="0" marL="457200" marR="0" rtl="0" algn="l">
              <a:lnSpc>
                <a:spcPct val="100000"/>
              </a:lnSpc>
              <a:spcBef>
                <a:spcPts val="0"/>
              </a:spcBef>
              <a:spcAft>
                <a:spcPts val="0"/>
              </a:spcAft>
              <a:buClr>
                <a:srgbClr val="3F3F3F"/>
              </a:buClr>
              <a:buSzPts val="1800"/>
              <a:buFont typeface="Calibri"/>
              <a:buChar char="-"/>
            </a:pPr>
            <a:r>
              <a:rPr b="1" i="0" lang="es-ES" sz="1800" u="none" cap="none" strike="noStrike">
                <a:solidFill>
                  <a:srgbClr val="3F3F3F"/>
                </a:solidFill>
                <a:latin typeface="Calibri"/>
                <a:ea typeface="Calibri"/>
                <a:cs typeface="Calibri"/>
                <a:sym typeface="Calibri"/>
              </a:rPr>
              <a:t>SEBASTIAN CAMILO MARTIN CUBILLOS</a:t>
            </a:r>
            <a:endParaRPr b="1" i="0" sz="1800" u="none" cap="none" strike="noStrike">
              <a:solidFill>
                <a:srgbClr val="3F3F3F"/>
              </a:solidFill>
              <a:latin typeface="Calibri"/>
              <a:ea typeface="Calibri"/>
              <a:cs typeface="Calibri"/>
              <a:sym typeface="Calibri"/>
            </a:endParaRPr>
          </a:p>
          <a:p>
            <a:pPr indent="-342900" lvl="0" marL="457200" marR="0" rtl="0" algn="l">
              <a:lnSpc>
                <a:spcPct val="100000"/>
              </a:lnSpc>
              <a:spcBef>
                <a:spcPts val="0"/>
              </a:spcBef>
              <a:spcAft>
                <a:spcPts val="0"/>
              </a:spcAft>
              <a:buClr>
                <a:srgbClr val="3F3F3F"/>
              </a:buClr>
              <a:buSzPts val="1800"/>
              <a:buFont typeface="Calibri"/>
              <a:buChar char="-"/>
            </a:pPr>
            <a:r>
              <a:rPr b="1" lang="es-ES" sz="1800">
                <a:solidFill>
                  <a:srgbClr val="3F3F3F"/>
                </a:solidFill>
                <a:latin typeface="Calibri"/>
                <a:ea typeface="Calibri"/>
                <a:cs typeface="Calibri"/>
                <a:sym typeface="Calibri"/>
              </a:rPr>
              <a:t>LUIS YAID CANCHILA</a:t>
            </a:r>
            <a:endParaRPr b="1" sz="1800">
              <a:solidFill>
                <a:srgbClr val="3F3F3F"/>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3F3F3F"/>
              </a:solidFill>
              <a:latin typeface="Calibri"/>
              <a:ea typeface="Calibri"/>
              <a:cs typeface="Calibri"/>
              <a:sym typeface="Calibri"/>
            </a:endParaRPr>
          </a:p>
          <a:p>
            <a:pPr indent="-342900" lvl="0" marL="457200" marR="0" rtl="0" algn="l">
              <a:lnSpc>
                <a:spcPct val="100000"/>
              </a:lnSpc>
              <a:spcBef>
                <a:spcPts val="0"/>
              </a:spcBef>
              <a:spcAft>
                <a:spcPts val="0"/>
              </a:spcAft>
              <a:buClr>
                <a:srgbClr val="3F3F3F"/>
              </a:buClr>
              <a:buSzPts val="1800"/>
              <a:buFont typeface="Calibri"/>
              <a:buChar char="-"/>
            </a:pPr>
            <a:r>
              <a:rPr b="1" i="0" lang="es-ES" sz="1800" u="none" cap="none" strike="noStrike">
                <a:solidFill>
                  <a:srgbClr val="3F3F3F"/>
                </a:solidFill>
                <a:latin typeface="Calibri"/>
                <a:ea typeface="Calibri"/>
                <a:cs typeface="Calibri"/>
                <a:sym typeface="Calibri"/>
              </a:rPr>
              <a:t>NICOLÁS PERALTA DUARTE</a:t>
            </a:r>
            <a:endParaRPr b="1" sz="1800">
              <a:solidFill>
                <a:srgbClr val="3F3F3F"/>
              </a:solidFill>
              <a:latin typeface="Calibri"/>
              <a:ea typeface="Calibri"/>
              <a:cs typeface="Calibri"/>
              <a:sym typeface="Calibri"/>
            </a:endParaRPr>
          </a:p>
        </p:txBody>
      </p:sp>
      <p:sp>
        <p:nvSpPr>
          <p:cNvPr id="104" name="Google Shape;104;p2"/>
          <p:cNvSpPr txBox="1"/>
          <p:nvPr/>
        </p:nvSpPr>
        <p:spPr>
          <a:xfrm>
            <a:off x="4638603" y="1978347"/>
            <a:ext cx="25479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s-ES" sz="1800" u="none" cap="none" strike="noStrike">
                <a:solidFill>
                  <a:srgbClr val="3F3F3F"/>
                </a:solidFill>
                <a:latin typeface="Calibri"/>
                <a:ea typeface="Calibri"/>
                <a:cs typeface="Calibri"/>
                <a:sym typeface="Calibri"/>
              </a:rPr>
              <a:t>TATUAJES UYUYUI</a:t>
            </a:r>
            <a:endParaRPr b="1" i="0" sz="1800" u="none" cap="none" strike="noStrike">
              <a:solidFill>
                <a:srgbClr val="3F3F3F"/>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3"/>
          <p:cNvSpPr txBox="1"/>
          <p:nvPr/>
        </p:nvSpPr>
        <p:spPr>
          <a:xfrm>
            <a:off x="2424726" y="828308"/>
            <a:ext cx="7678200" cy="618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1" i="0" lang="es-ES" sz="3200" u="none" cap="none" strike="noStrike">
                <a:solidFill>
                  <a:srgbClr val="3F3F3F"/>
                </a:solidFill>
                <a:latin typeface="Calibri"/>
                <a:ea typeface="Calibri"/>
                <a:cs typeface="Calibri"/>
                <a:sym typeface="Calibri"/>
              </a:rPr>
              <a:t>AGENDA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Calibri"/>
                <a:ea typeface="Calibri"/>
                <a:cs typeface="Calibri"/>
                <a:sym typeface="Calibri"/>
              </a:rPr>
              <a:t>Formulación del proyecto</a:t>
            </a:r>
            <a:endParaRPr b="0" i="0" sz="1800" u="none" cap="none" strike="noStrike">
              <a:solidFill>
                <a:schemeClr val="dk1"/>
              </a:solidFill>
              <a:latin typeface="Calibri"/>
              <a:ea typeface="Calibri"/>
              <a:cs typeface="Calibri"/>
              <a:sym typeface="Calibri"/>
            </a:endParaRPr>
          </a:p>
          <a:p>
            <a:pPr indent="-285750" lvl="1" marL="742950" marR="0" rtl="0" algn="l">
              <a:lnSpc>
                <a:spcPct val="100000"/>
              </a:lnSpc>
              <a:spcBef>
                <a:spcPts val="0"/>
              </a:spcBef>
              <a:spcAft>
                <a:spcPts val="0"/>
              </a:spcAft>
              <a:buClr>
                <a:schemeClr val="dk1"/>
              </a:buClr>
              <a:buSzPts val="1800"/>
              <a:buFont typeface="Calibri"/>
              <a:buChar char="•"/>
            </a:pPr>
            <a:r>
              <a:rPr b="0" i="0" lang="es-ES" sz="1800" u="none" cap="none" strike="noStrike">
                <a:solidFill>
                  <a:schemeClr val="dk1"/>
                </a:solidFill>
                <a:latin typeface="Calibri"/>
                <a:ea typeface="Calibri"/>
                <a:cs typeface="Calibri"/>
                <a:sym typeface="Calibri"/>
              </a:rPr>
              <a:t>Introducción</a:t>
            </a:r>
            <a:endParaRPr b="0" i="0" sz="1800" u="none" cap="none" strike="noStrike">
              <a:solidFill>
                <a:schemeClr val="dk1"/>
              </a:solidFill>
              <a:latin typeface="Calibri"/>
              <a:ea typeface="Calibri"/>
              <a:cs typeface="Calibri"/>
              <a:sym typeface="Calibri"/>
            </a:endParaRPr>
          </a:p>
          <a:p>
            <a:pPr indent="-285750" lvl="1" marL="742950" marR="0" rtl="0" algn="l">
              <a:lnSpc>
                <a:spcPct val="100000"/>
              </a:lnSpc>
              <a:spcBef>
                <a:spcPts val="0"/>
              </a:spcBef>
              <a:spcAft>
                <a:spcPts val="0"/>
              </a:spcAft>
              <a:buClr>
                <a:schemeClr val="dk1"/>
              </a:buClr>
              <a:buSzPts val="1800"/>
              <a:buFont typeface="Arial"/>
              <a:buChar char="•"/>
            </a:pPr>
            <a:r>
              <a:rPr b="0" i="0" lang="es-ES" sz="1800" u="none" cap="none" strike="noStrike">
                <a:solidFill>
                  <a:schemeClr val="dk1"/>
                </a:solidFill>
                <a:latin typeface="Calibri"/>
                <a:ea typeface="Calibri"/>
                <a:cs typeface="Calibri"/>
                <a:sym typeface="Calibri"/>
              </a:rPr>
              <a:t>Planteamiento del Problema </a:t>
            </a:r>
            <a:endParaRPr b="0" i="0" sz="1800" u="none" cap="none" strike="noStrike">
              <a:solidFill>
                <a:schemeClr val="dk1"/>
              </a:solidFill>
              <a:latin typeface="Calibri"/>
              <a:ea typeface="Calibri"/>
              <a:cs typeface="Calibri"/>
              <a:sym typeface="Calibri"/>
            </a:endParaRPr>
          </a:p>
          <a:p>
            <a:pPr indent="-285750" lvl="1" marL="742950" marR="0" rtl="0" algn="l">
              <a:lnSpc>
                <a:spcPct val="100000"/>
              </a:lnSpc>
              <a:spcBef>
                <a:spcPts val="0"/>
              </a:spcBef>
              <a:spcAft>
                <a:spcPts val="0"/>
              </a:spcAft>
              <a:buClr>
                <a:schemeClr val="dk1"/>
              </a:buClr>
              <a:buSzPts val="1800"/>
              <a:buFont typeface="Arial"/>
              <a:buChar char="•"/>
            </a:pPr>
            <a:r>
              <a:rPr b="0" i="0" lang="es-ES" sz="1800" u="none" cap="none" strike="noStrike">
                <a:solidFill>
                  <a:schemeClr val="dk1"/>
                </a:solidFill>
                <a:latin typeface="Calibri"/>
                <a:ea typeface="Calibri"/>
                <a:cs typeface="Calibri"/>
                <a:sym typeface="Calibri"/>
              </a:rPr>
              <a:t>Objetivo General </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chemeClr val="dk1"/>
              </a:buClr>
              <a:buSzPts val="1800"/>
              <a:buFont typeface="Arial"/>
              <a:buChar char="•"/>
            </a:pPr>
            <a:r>
              <a:rPr b="0" i="0" lang="es-ES" sz="1800" u="none" cap="none" strike="noStrike">
                <a:solidFill>
                  <a:schemeClr val="dk1"/>
                </a:solidFill>
                <a:latin typeface="Calibri"/>
                <a:ea typeface="Calibri"/>
                <a:cs typeface="Calibri"/>
                <a:sym typeface="Calibri"/>
              </a:rPr>
              <a:t>Objetivos Específicos </a:t>
            </a:r>
            <a:endParaRPr b="0" i="0" sz="1800" u="none" cap="none" strike="noStrike">
              <a:solidFill>
                <a:schemeClr val="dk1"/>
              </a:solidFill>
              <a:latin typeface="Calibri"/>
              <a:ea typeface="Calibri"/>
              <a:cs typeface="Calibri"/>
              <a:sym typeface="Calibri"/>
            </a:endParaRPr>
          </a:p>
          <a:p>
            <a:pPr indent="-285750" lvl="1" marL="742950" marR="0" rtl="0" algn="l">
              <a:lnSpc>
                <a:spcPct val="100000"/>
              </a:lnSpc>
              <a:spcBef>
                <a:spcPts val="0"/>
              </a:spcBef>
              <a:spcAft>
                <a:spcPts val="0"/>
              </a:spcAft>
              <a:buClr>
                <a:schemeClr val="dk1"/>
              </a:buClr>
              <a:buSzPts val="1800"/>
              <a:buFont typeface="Calibri"/>
              <a:buChar char="•"/>
            </a:pPr>
            <a:r>
              <a:rPr b="0" i="0" lang="es-ES" sz="1800" u="none" cap="none" strike="noStrike">
                <a:solidFill>
                  <a:schemeClr val="dk1"/>
                </a:solidFill>
                <a:latin typeface="Calibri"/>
                <a:ea typeface="Calibri"/>
                <a:cs typeface="Calibri"/>
                <a:sym typeface="Calibri"/>
              </a:rPr>
              <a:t>Levantamiento de información</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Calibri"/>
                <a:ea typeface="Calibri"/>
                <a:cs typeface="Calibri"/>
                <a:sym typeface="Calibri"/>
              </a:rPr>
              <a:t>Informe Técnico</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s-ES" sz="1800" u="none" cap="none" strike="noStrike">
                <a:solidFill>
                  <a:schemeClr val="dk1"/>
                </a:solidFill>
                <a:latin typeface="Calibri"/>
                <a:ea typeface="Calibri"/>
                <a:cs typeface="Calibri"/>
                <a:sym typeface="Calibri"/>
              </a:rPr>
              <a:t>Identificación de Actores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s-ES" sz="1800" u="none" cap="none" strike="noStrike">
                <a:solidFill>
                  <a:schemeClr val="dk1"/>
                </a:solidFill>
                <a:latin typeface="Calibri"/>
                <a:ea typeface="Calibri"/>
                <a:cs typeface="Calibri"/>
                <a:sym typeface="Calibri"/>
              </a:rPr>
              <a:t>Requerimientos del Sistema</a:t>
            </a:r>
            <a:endParaRPr b="0" i="0" sz="1800" u="none" cap="none" strike="noStrike">
              <a:solidFill>
                <a:schemeClr val="dk1"/>
              </a:solidFill>
              <a:latin typeface="Calibri"/>
              <a:ea typeface="Calibri"/>
              <a:cs typeface="Calibri"/>
              <a:sym typeface="Calibri"/>
            </a:endParaRPr>
          </a:p>
          <a:p>
            <a:pPr indent="-285750" lvl="0" marL="285750" marR="0" rtl="0" algn="l">
              <a:lnSpc>
                <a:spcPct val="100000"/>
              </a:lnSpc>
              <a:spcBef>
                <a:spcPts val="0"/>
              </a:spcBef>
              <a:spcAft>
                <a:spcPts val="0"/>
              </a:spcAft>
              <a:buClr>
                <a:schemeClr val="dk1"/>
              </a:buClr>
              <a:buSzPts val="1800"/>
              <a:buFont typeface="Calibri"/>
              <a:buChar char="•"/>
            </a:pPr>
            <a:r>
              <a:rPr b="0" i="0" lang="es-ES" sz="1800" u="none" cap="none" strike="noStrike">
                <a:solidFill>
                  <a:schemeClr val="dk1"/>
                </a:solidFill>
                <a:latin typeface="Calibri"/>
                <a:ea typeface="Calibri"/>
                <a:cs typeface="Calibri"/>
                <a:sym typeface="Calibri"/>
              </a:rPr>
              <a:t>Diagrama de Software y Hardware</a:t>
            </a:r>
            <a:endParaRPr b="0" i="0" sz="1800" u="none" cap="none" strike="noStrike">
              <a:solidFill>
                <a:schemeClr val="dk1"/>
              </a:solidFill>
              <a:latin typeface="Calibri"/>
              <a:ea typeface="Calibri"/>
              <a:cs typeface="Calibri"/>
              <a:sym typeface="Calibri"/>
            </a:endParaRPr>
          </a:p>
          <a:p>
            <a:pPr indent="-285750" lvl="0" marL="285750" marR="0" rtl="0" algn="l">
              <a:lnSpc>
                <a:spcPct val="100000"/>
              </a:lnSpc>
              <a:spcBef>
                <a:spcPts val="0"/>
              </a:spcBef>
              <a:spcAft>
                <a:spcPts val="0"/>
              </a:spcAft>
              <a:buClr>
                <a:schemeClr val="dk1"/>
              </a:buClr>
              <a:buSzPts val="1800"/>
              <a:buFont typeface="Calibri"/>
              <a:buChar char="•"/>
            </a:pPr>
            <a:r>
              <a:rPr b="0" i="0" lang="es-ES" sz="1800" u="none" cap="none" strike="noStrike">
                <a:solidFill>
                  <a:schemeClr val="dk1"/>
                </a:solidFill>
                <a:latin typeface="Calibri"/>
                <a:ea typeface="Calibri"/>
                <a:cs typeface="Calibri"/>
                <a:sym typeface="Calibri"/>
              </a:rPr>
              <a:t>Diagrama de Procesos</a:t>
            </a:r>
            <a:endParaRPr b="0" i="0" sz="1800" u="none" cap="none" strike="noStrike">
              <a:solidFill>
                <a:schemeClr val="dk1"/>
              </a:solidFill>
              <a:latin typeface="Calibri"/>
              <a:ea typeface="Calibri"/>
              <a:cs typeface="Calibri"/>
              <a:sym typeface="Calibri"/>
            </a:endParaRPr>
          </a:p>
          <a:p>
            <a:pPr indent="-285750" lvl="0" marL="285750" marR="0" rtl="0" algn="l">
              <a:lnSpc>
                <a:spcPct val="100000"/>
              </a:lnSpc>
              <a:spcBef>
                <a:spcPts val="0"/>
              </a:spcBef>
              <a:spcAft>
                <a:spcPts val="0"/>
              </a:spcAft>
              <a:buClr>
                <a:schemeClr val="dk1"/>
              </a:buClr>
              <a:buSzPts val="1800"/>
              <a:buFont typeface="Calibri"/>
              <a:buChar char="•"/>
            </a:pPr>
            <a:r>
              <a:rPr b="0" i="0" lang="es-ES" sz="1800" u="none" cap="none" strike="noStrike">
                <a:solidFill>
                  <a:schemeClr val="dk1"/>
                </a:solidFill>
                <a:latin typeface="Calibri"/>
                <a:ea typeface="Calibri"/>
                <a:cs typeface="Calibri"/>
                <a:sym typeface="Calibri"/>
              </a:rPr>
              <a:t>Organigrama </a:t>
            </a:r>
            <a:endParaRPr b="0" i="0" sz="1800" u="none" cap="none" strike="noStrike">
              <a:solidFill>
                <a:schemeClr val="dk1"/>
              </a:solidFill>
              <a:latin typeface="Calibri"/>
              <a:ea typeface="Calibri"/>
              <a:cs typeface="Calibri"/>
              <a:sym typeface="Calibri"/>
            </a:endParaRPr>
          </a:p>
          <a:p>
            <a:pPr indent="-285750" lvl="0" marL="285750" marR="0" rtl="0" algn="l">
              <a:lnSpc>
                <a:spcPct val="100000"/>
              </a:lnSpc>
              <a:spcBef>
                <a:spcPts val="0"/>
              </a:spcBef>
              <a:spcAft>
                <a:spcPts val="0"/>
              </a:spcAft>
              <a:buClr>
                <a:schemeClr val="dk1"/>
              </a:buClr>
              <a:buSzPts val="1800"/>
              <a:buFont typeface="Calibri"/>
              <a:buChar char="•"/>
            </a:pPr>
            <a:r>
              <a:rPr b="0" i="0" lang="es-ES" sz="1800" u="none" cap="none" strike="noStrike">
                <a:solidFill>
                  <a:schemeClr val="dk1"/>
                </a:solidFill>
                <a:latin typeface="Calibri"/>
                <a:ea typeface="Calibri"/>
                <a:cs typeface="Calibri"/>
                <a:sym typeface="Calibri"/>
              </a:rPr>
              <a:t>Conclusión</a:t>
            </a:r>
            <a:endParaRPr b="0" i="0" sz="18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544E"/>
              </a:buClr>
              <a:buSzPts val="4400"/>
              <a:buFont typeface="Helvetica Neue"/>
              <a:buNone/>
            </a:pPr>
            <a:r>
              <a:t/>
            </a:r>
            <a:endParaRPr b="1" i="0" sz="3000" u="none" cap="none" strike="noStrike">
              <a:solidFill>
                <a:srgbClr val="3F3F3F"/>
              </a:solidFill>
              <a:latin typeface="Work Sans"/>
              <a:ea typeface="Work Sans"/>
              <a:cs typeface="Work Sans"/>
              <a:sym typeface="Work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4"/>
          <p:cNvSpPr txBox="1"/>
          <p:nvPr/>
        </p:nvSpPr>
        <p:spPr>
          <a:xfrm>
            <a:off x="3476625" y="2766200"/>
            <a:ext cx="5505300" cy="10467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i="0" lang="es-ES" sz="3200" u="none" cap="none" strike="noStrike">
                <a:solidFill>
                  <a:srgbClr val="3F3F3F"/>
                </a:solidFill>
                <a:latin typeface="Calibri"/>
                <a:ea typeface="Calibri"/>
                <a:cs typeface="Calibri"/>
                <a:sym typeface="Calibri"/>
              </a:rPr>
              <a:t>FORMULACIÓN DEL PROYECTO</a:t>
            </a:r>
            <a:endParaRPr b="0"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544E"/>
              </a:buClr>
              <a:buSzPts val="4400"/>
              <a:buFont typeface="Helvetica Neue"/>
              <a:buNone/>
            </a:pPr>
            <a:r>
              <a:rPr b="1" i="0" lang="es-ES" sz="3000" u="none" cap="none" strike="noStrike">
                <a:solidFill>
                  <a:srgbClr val="3F3F3F"/>
                </a:solidFill>
                <a:latin typeface="Work Sans"/>
                <a:ea typeface="Work Sans"/>
                <a:cs typeface="Work Sans"/>
                <a:sym typeface="Work Sans"/>
              </a:rPr>
              <a:t> TATUAJES Uyuyui</a:t>
            </a:r>
            <a:endParaRPr b="1" i="0" sz="3000" u="none" cap="none" strike="noStrike">
              <a:solidFill>
                <a:srgbClr val="3F3F3F"/>
              </a:solidFill>
              <a:latin typeface="Work Sans"/>
              <a:ea typeface="Work Sans"/>
              <a:cs typeface="Work Sans"/>
              <a:sym typeface="Work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5"/>
          <p:cNvSpPr txBox="1"/>
          <p:nvPr>
            <p:ph type="title"/>
          </p:nvPr>
        </p:nvSpPr>
        <p:spPr>
          <a:xfrm>
            <a:off x="456236" y="110481"/>
            <a:ext cx="10515600"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000000"/>
              </a:buClr>
              <a:buSzPts val="3600"/>
              <a:buFont typeface="Arial"/>
              <a:buNone/>
            </a:pPr>
            <a:r>
              <a:rPr b="1" lang="es-ES">
                <a:solidFill>
                  <a:schemeClr val="lt1"/>
                </a:solidFill>
              </a:rPr>
              <a:t>Introducción</a:t>
            </a:r>
            <a:endParaRPr b="0" i="0" sz="1800" u="none" cap="none" strike="noStrike">
              <a:solidFill>
                <a:srgbClr val="000000"/>
              </a:solidFill>
              <a:latin typeface="Arial"/>
              <a:ea typeface="Arial"/>
              <a:cs typeface="Arial"/>
              <a:sym typeface="Arial"/>
            </a:endParaRPr>
          </a:p>
        </p:txBody>
      </p:sp>
      <p:sp>
        <p:nvSpPr>
          <p:cNvPr id="122" name="Google Shape;122;p5"/>
          <p:cNvSpPr txBox="1"/>
          <p:nvPr/>
        </p:nvSpPr>
        <p:spPr>
          <a:xfrm>
            <a:off x="2133450" y="1628275"/>
            <a:ext cx="7925100" cy="2789100"/>
          </a:xfrm>
          <a:prstGeom prst="rect">
            <a:avLst/>
          </a:prstGeom>
          <a:noFill/>
          <a:ln>
            <a:noFill/>
          </a:ln>
        </p:spPr>
        <p:txBody>
          <a:bodyPr anchorCtr="0" anchor="t" bIns="91425" lIns="91425" spcFirstLastPara="1" rIns="91425" wrap="square" tIns="91425">
            <a:spAutoFit/>
          </a:bodyPr>
          <a:lstStyle/>
          <a:p>
            <a:pPr indent="0" lvl="0" marL="0" marR="0" rtl="0" algn="l">
              <a:lnSpc>
                <a:spcPct val="107916"/>
              </a:lnSpc>
              <a:spcBef>
                <a:spcPts val="600"/>
              </a:spcBef>
              <a:spcAft>
                <a:spcPts val="0"/>
              </a:spcAft>
              <a:buClr>
                <a:schemeClr val="dk1"/>
              </a:buClr>
              <a:buSzPts val="1100"/>
              <a:buFont typeface="Arial"/>
              <a:buNone/>
            </a:pPr>
            <a:r>
              <a:t/>
            </a:r>
            <a:endParaRPr b="0" i="0" sz="1900" u="none" cap="none" strike="noStrike">
              <a:solidFill>
                <a:schemeClr val="dk1"/>
              </a:solidFill>
              <a:latin typeface="Arial"/>
              <a:ea typeface="Arial"/>
              <a:cs typeface="Arial"/>
              <a:sym typeface="Arial"/>
            </a:endParaRPr>
          </a:p>
          <a:p>
            <a:pPr indent="0" lvl="0" marL="0" marR="0" rtl="0" algn="l">
              <a:lnSpc>
                <a:spcPct val="107916"/>
              </a:lnSpc>
              <a:spcBef>
                <a:spcPts val="0"/>
              </a:spcBef>
              <a:spcAft>
                <a:spcPts val="0"/>
              </a:spcAft>
              <a:buClr>
                <a:schemeClr val="dk1"/>
              </a:buClr>
              <a:buSzPts val="1100"/>
              <a:buFont typeface="Arial"/>
              <a:buNone/>
            </a:pPr>
            <a:r>
              <a:rPr b="0" i="0" lang="es-ES" sz="1900" u="none" cap="none" strike="noStrike">
                <a:solidFill>
                  <a:schemeClr val="dk1"/>
                </a:solidFill>
                <a:latin typeface="Arial"/>
                <a:ea typeface="Arial"/>
                <a:cs typeface="Arial"/>
                <a:sym typeface="Arial"/>
              </a:rPr>
              <a:t>Este documento describe el análisis de la información requerida para  crear un sitio web de tatuajes para facilitar a los clientes la compra del producto, así creando catálogos y diseños con sus respectivos precios para que al momento de hacer el tatuaje no hayan inconvenientes, de esta manera se hace uso de este sitio web para que el cliente identifique los que quiere.</a:t>
            </a:r>
            <a:endParaRPr b="0" i="0" sz="1900" u="none" cap="none" strike="noStrike">
              <a:solidFill>
                <a:schemeClr val="dk1"/>
              </a:solidFill>
              <a:latin typeface="Arial"/>
              <a:ea typeface="Arial"/>
              <a:cs typeface="Arial"/>
              <a:sym typeface="Arial"/>
            </a:endParaRPr>
          </a:p>
          <a:p>
            <a:pPr indent="0" lvl="0" marL="0" marR="0" rtl="0" algn="l">
              <a:lnSpc>
                <a:spcPct val="107916"/>
              </a:lnSpc>
              <a:spcBef>
                <a:spcPts val="800"/>
              </a:spcBef>
              <a:spcAft>
                <a:spcPts val="800"/>
              </a:spcAft>
              <a:buClr>
                <a:schemeClr val="dk1"/>
              </a:buClr>
              <a:buSzPts val="1100"/>
              <a:buFont typeface="Arial"/>
              <a:buNone/>
            </a:pPr>
            <a:r>
              <a:t/>
            </a:r>
            <a:endParaRPr b="0" i="0" sz="1900" u="none" cap="none" strike="noStrike">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g39154aa0d2f_0_0"/>
          <p:cNvSpPr txBox="1"/>
          <p:nvPr>
            <p:ph type="title"/>
          </p:nvPr>
        </p:nvSpPr>
        <p:spPr>
          <a:xfrm>
            <a:off x="456236" y="110481"/>
            <a:ext cx="10515600" cy="1325700"/>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000000"/>
              </a:buClr>
              <a:buSzPts val="3600"/>
              <a:buFont typeface="Arial"/>
              <a:buNone/>
            </a:pPr>
            <a:r>
              <a:rPr b="1" lang="es-ES">
                <a:solidFill>
                  <a:schemeClr val="lt1"/>
                </a:solidFill>
              </a:rPr>
              <a:t>Planteamiento del Problema</a:t>
            </a:r>
            <a:endParaRPr b="0" i="0" sz="1800" u="none" cap="none" strike="noStrike">
              <a:solidFill>
                <a:srgbClr val="000000"/>
              </a:solidFill>
              <a:latin typeface="Arial"/>
              <a:ea typeface="Arial"/>
              <a:cs typeface="Arial"/>
              <a:sym typeface="Arial"/>
            </a:endParaRPr>
          </a:p>
        </p:txBody>
      </p:sp>
      <p:sp>
        <p:nvSpPr>
          <p:cNvPr id="128" name="Google Shape;128;g39154aa0d2f_0_0"/>
          <p:cNvSpPr txBox="1"/>
          <p:nvPr/>
        </p:nvSpPr>
        <p:spPr>
          <a:xfrm>
            <a:off x="2133450" y="1628275"/>
            <a:ext cx="7925100" cy="3078900"/>
          </a:xfrm>
          <a:prstGeom prst="rect">
            <a:avLst/>
          </a:prstGeom>
          <a:noFill/>
          <a:ln>
            <a:noFill/>
          </a:ln>
        </p:spPr>
        <p:txBody>
          <a:bodyPr anchorCtr="0" anchor="t" bIns="91425" lIns="91425" spcFirstLastPara="1" rIns="91425" wrap="square" tIns="91425">
            <a:spAutoFit/>
          </a:bodyPr>
          <a:lstStyle/>
          <a:p>
            <a:pPr indent="0" lvl="0" marL="0" marR="0" rtl="0" algn="l">
              <a:lnSpc>
                <a:spcPct val="107916"/>
              </a:lnSpc>
              <a:spcBef>
                <a:spcPts val="600"/>
              </a:spcBef>
              <a:spcAft>
                <a:spcPts val="0"/>
              </a:spcAft>
              <a:buClr>
                <a:schemeClr val="dk1"/>
              </a:buClr>
              <a:buSzPts val="1100"/>
              <a:buFont typeface="Arial"/>
              <a:buNone/>
            </a:pPr>
            <a:r>
              <a:t/>
            </a:r>
            <a:endParaRPr b="0" i="0" sz="1900" u="none" cap="none" strike="noStrike">
              <a:solidFill>
                <a:schemeClr val="dk1"/>
              </a:solidFill>
              <a:latin typeface="Arial"/>
              <a:ea typeface="Arial"/>
              <a:cs typeface="Arial"/>
              <a:sym typeface="Arial"/>
            </a:endParaRPr>
          </a:p>
          <a:p>
            <a:pPr indent="0" lvl="0" marL="0" marR="0" rtl="0" algn="l">
              <a:lnSpc>
                <a:spcPct val="107916"/>
              </a:lnSpc>
              <a:spcBef>
                <a:spcPts val="600"/>
              </a:spcBef>
              <a:spcAft>
                <a:spcPts val="0"/>
              </a:spcAft>
              <a:buClr>
                <a:schemeClr val="dk1"/>
              </a:buClr>
              <a:buSzPts val="1100"/>
              <a:buFont typeface="Arial"/>
              <a:buNone/>
            </a:pPr>
            <a:r>
              <a:rPr b="0" i="0" lang="es-ES" sz="1900" u="none" cap="none" strike="noStrike">
                <a:solidFill>
                  <a:schemeClr val="dk1"/>
                </a:solidFill>
                <a:latin typeface="Arial"/>
                <a:ea typeface="Arial"/>
                <a:cs typeface="Arial"/>
                <a:sym typeface="Arial"/>
              </a:rPr>
              <a:t>Además, debido a la creciente popularidad de los tatuajes, el estudio de tatuajes carece de una presencia en línea  efectiva y no cuenta con una plataforma digital que le permita mostrar sus trabajos, interactuar con clientes potenciales y gestionar de manera eficiente las citas.La ausencia de una aplicacion web limita la visibilidad del estudio y dificultad la comunicación con clientes	interesados en obtener información sobre servicios, estilos de tatuajes y disponibilidad para agendar citas.</a:t>
            </a:r>
            <a:endParaRPr b="0" i="0" sz="1750" u="none" cap="none" strike="noStrike">
              <a:solidFill>
                <a:schemeClr val="dk1"/>
              </a:solidFill>
              <a:highlight>
                <a:srgbClr val="F3F3F3"/>
              </a:highlight>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6"/>
          <p:cNvSpPr txBox="1"/>
          <p:nvPr>
            <p:ph type="title"/>
          </p:nvPr>
        </p:nvSpPr>
        <p:spPr>
          <a:xfrm>
            <a:off x="456236" y="110481"/>
            <a:ext cx="10515600"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000000"/>
              </a:buClr>
              <a:buSzPts val="3600"/>
              <a:buFont typeface="Arial"/>
              <a:buNone/>
            </a:pPr>
            <a:r>
              <a:rPr b="1" lang="es-ES">
                <a:solidFill>
                  <a:schemeClr val="lt1"/>
                </a:solidFill>
              </a:rPr>
              <a:t>Objetivo General</a:t>
            </a:r>
            <a:endParaRPr b="0" i="0" sz="1800" u="none" cap="none" strike="noStrike">
              <a:solidFill>
                <a:srgbClr val="000000"/>
              </a:solidFill>
              <a:latin typeface="Arial"/>
              <a:ea typeface="Arial"/>
              <a:cs typeface="Arial"/>
              <a:sym typeface="Arial"/>
            </a:endParaRPr>
          </a:p>
        </p:txBody>
      </p:sp>
      <p:sp>
        <p:nvSpPr>
          <p:cNvPr id="134" name="Google Shape;134;p6"/>
          <p:cNvSpPr txBox="1"/>
          <p:nvPr/>
        </p:nvSpPr>
        <p:spPr>
          <a:xfrm>
            <a:off x="2687925" y="1919250"/>
            <a:ext cx="7130700" cy="3976500"/>
          </a:xfrm>
          <a:prstGeom prst="rect">
            <a:avLst/>
          </a:prstGeom>
          <a:noFill/>
          <a:ln>
            <a:noFill/>
          </a:ln>
        </p:spPr>
        <p:txBody>
          <a:bodyPr anchorCtr="0" anchor="t" bIns="91425" lIns="91425" spcFirstLastPara="1" rIns="91425" wrap="square" tIns="91425">
            <a:spAutoFit/>
          </a:bodyPr>
          <a:lstStyle/>
          <a:p>
            <a:pPr indent="0" lvl="0" marL="0" marR="0" rtl="0" algn="l">
              <a:lnSpc>
                <a:spcPct val="107916"/>
              </a:lnSpc>
              <a:spcBef>
                <a:spcPts val="600"/>
              </a:spcBef>
              <a:spcAft>
                <a:spcPts val="0"/>
              </a:spcAft>
              <a:buClr>
                <a:srgbClr val="000000"/>
              </a:buClr>
              <a:buSzPts val="1900"/>
              <a:buFont typeface="Arial"/>
              <a:buNone/>
            </a:pPr>
            <a:r>
              <a:rPr b="0" i="0" lang="es-ES" sz="1900" u="none" cap="none" strike="noStrike">
                <a:solidFill>
                  <a:schemeClr val="dk1"/>
                </a:solidFill>
                <a:latin typeface="Arial"/>
                <a:ea typeface="Arial"/>
                <a:cs typeface="Arial"/>
                <a:sym typeface="Arial"/>
              </a:rPr>
              <a:t>Crear una plataforma en línea llamativa y fácil de navegar que represente la identidad y estilo del estudio de tatuajes y   que actúe como intermediaria entre tatuadores y personas interesadas en el servicio, esto con el fin de que las personas interesadas, conozcan un portafolio visualmente llamativo con diseños que destaquen la experiencia y creatividad de los tatuadores que usen la aplicación web, con el fin de convertirse en clientes de la página.</a:t>
            </a:r>
            <a:endParaRPr b="0" i="0" sz="1900" u="none" cap="none" strike="noStrike">
              <a:solidFill>
                <a:schemeClr val="dk1"/>
              </a:solidFill>
              <a:latin typeface="Arial"/>
              <a:ea typeface="Arial"/>
              <a:cs typeface="Arial"/>
              <a:sym typeface="Arial"/>
            </a:endParaRPr>
          </a:p>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rgbClr val="D1D5DB"/>
              </a:solidFill>
              <a:highlight>
                <a:srgbClr val="343541"/>
              </a:highlight>
              <a:latin typeface="Roboto"/>
              <a:ea typeface="Roboto"/>
              <a:cs typeface="Roboto"/>
              <a:sym typeface="Roboto"/>
            </a:endParaRPr>
          </a:p>
          <a:p>
            <a:pPr indent="0" lvl="0" marL="457200" marR="0" rtl="0" algn="ctr">
              <a:lnSpc>
                <a:spcPct val="107916"/>
              </a:lnSpc>
              <a:spcBef>
                <a:spcPts val="600"/>
              </a:spcBef>
              <a:spcAft>
                <a:spcPts val="0"/>
              </a:spcAft>
              <a:buClr>
                <a:srgbClr val="000000"/>
              </a:buClr>
              <a:buSzPts val="1900"/>
              <a:buFont typeface="Arial"/>
              <a:buNone/>
            </a:pPr>
            <a:r>
              <a:t/>
            </a:r>
            <a:endParaRPr b="0" i="0" sz="1900" u="none" cap="none" strike="noStrike">
              <a:solidFill>
                <a:schemeClr val="dk1"/>
              </a:solidFill>
              <a:latin typeface="Arial"/>
              <a:ea typeface="Arial"/>
              <a:cs typeface="Arial"/>
              <a:sym typeface="Arial"/>
            </a:endParaRPr>
          </a:p>
          <a:p>
            <a:pPr indent="0" lvl="0" marL="457200" marR="0" rtl="0" algn="l">
              <a:lnSpc>
                <a:spcPct val="107916"/>
              </a:lnSpc>
              <a:spcBef>
                <a:spcPts val="600"/>
              </a:spcBef>
              <a:spcAft>
                <a:spcPts val="0"/>
              </a:spcAft>
              <a:buClr>
                <a:srgbClr val="000000"/>
              </a:buClr>
              <a:buSzPts val="1900"/>
              <a:buFont typeface="Arial"/>
              <a:buNone/>
            </a:pPr>
            <a:r>
              <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500"/>
              <a:buFont typeface="Arial"/>
              <a:buNone/>
            </a:pPr>
            <a:r>
              <a:t/>
            </a:r>
            <a:endParaRPr b="0" i="0" sz="1500" u="none" cap="none" strike="noStrike">
              <a:solidFill>
                <a:srgbClr val="000000"/>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7"/>
          <p:cNvSpPr txBox="1"/>
          <p:nvPr>
            <p:ph type="title"/>
          </p:nvPr>
        </p:nvSpPr>
        <p:spPr>
          <a:xfrm>
            <a:off x="456236" y="110481"/>
            <a:ext cx="10515600"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000000"/>
              </a:buClr>
              <a:buSzPts val="3600"/>
              <a:buFont typeface="Arial"/>
              <a:buNone/>
            </a:pPr>
            <a:r>
              <a:rPr b="1" lang="es-ES">
                <a:solidFill>
                  <a:schemeClr val="lt1"/>
                </a:solidFill>
              </a:rPr>
              <a:t>Objetivos Específicos</a:t>
            </a:r>
            <a:endParaRPr b="0" i="0" sz="1800" u="none" cap="none" strike="noStrike">
              <a:solidFill>
                <a:srgbClr val="000000"/>
              </a:solidFill>
              <a:latin typeface="Arial"/>
              <a:ea typeface="Arial"/>
              <a:cs typeface="Arial"/>
              <a:sym typeface="Arial"/>
            </a:endParaRPr>
          </a:p>
        </p:txBody>
      </p:sp>
      <p:sp>
        <p:nvSpPr>
          <p:cNvPr id="140" name="Google Shape;140;p7"/>
          <p:cNvSpPr txBox="1"/>
          <p:nvPr/>
        </p:nvSpPr>
        <p:spPr>
          <a:xfrm>
            <a:off x="2358075" y="1595100"/>
            <a:ext cx="6711900" cy="4388700"/>
          </a:xfrm>
          <a:prstGeom prst="rect">
            <a:avLst/>
          </a:prstGeom>
          <a:noFill/>
          <a:ln>
            <a:noFill/>
          </a:ln>
        </p:spPr>
        <p:txBody>
          <a:bodyPr anchorCtr="0" anchor="t" bIns="91425" lIns="91425" spcFirstLastPara="1" rIns="91425" wrap="square" tIns="91425">
            <a:spAutoFit/>
          </a:bodyPr>
          <a:lstStyle/>
          <a:p>
            <a:pPr indent="-457200" lvl="0" marL="457200" marR="0" rtl="0" algn="l">
              <a:lnSpc>
                <a:spcPct val="107916"/>
              </a:lnSpc>
              <a:spcBef>
                <a:spcPts val="600"/>
              </a:spcBef>
              <a:spcAft>
                <a:spcPts val="0"/>
              </a:spcAft>
              <a:buClr>
                <a:schemeClr val="dk1"/>
              </a:buClr>
              <a:buSzPts val="1100"/>
              <a:buFont typeface="Arial"/>
              <a:buNone/>
            </a:pPr>
            <a:r>
              <a:rPr b="1" i="0" lang="es-ES" sz="1200" u="none" cap="none" strike="noStrike">
                <a:solidFill>
                  <a:schemeClr val="dk1"/>
                </a:solidFill>
                <a:latin typeface="Arial"/>
                <a:ea typeface="Arial"/>
                <a:cs typeface="Arial"/>
                <a:sym typeface="Arial"/>
              </a:rPr>
              <a:t>1. Conectar tatuadores y clientes(Ventas): Establecer una plataforma en línea donde los tatuadores puedan crear perfiles personalizados para mostrar su trabajo y donde los usuarios puedan buscar y encontrar artistas adecuados para sus necesidades y preferencias.</a:t>
            </a:r>
            <a:endParaRPr b="1" i="0" sz="1200" u="none" cap="none" strike="noStrike">
              <a:solidFill>
                <a:schemeClr val="dk1"/>
              </a:solidFill>
              <a:latin typeface="Arial"/>
              <a:ea typeface="Arial"/>
              <a:cs typeface="Arial"/>
              <a:sym typeface="Arial"/>
            </a:endParaRPr>
          </a:p>
          <a:p>
            <a:pPr indent="0" lvl="0" marL="0" marR="0" rtl="0" algn="l">
              <a:lnSpc>
                <a:spcPct val="107916"/>
              </a:lnSpc>
              <a:spcBef>
                <a:spcPts val="600"/>
              </a:spcBef>
              <a:spcAft>
                <a:spcPts val="0"/>
              </a:spcAft>
              <a:buClr>
                <a:schemeClr val="dk1"/>
              </a:buClr>
              <a:buSzPts val="1100"/>
              <a:buFont typeface="Arial"/>
              <a:buNone/>
            </a:pPr>
            <a:r>
              <a:t/>
            </a:r>
            <a:endParaRPr b="1" i="0" sz="1200" u="none" cap="none" strike="noStrike">
              <a:solidFill>
                <a:schemeClr val="dk1"/>
              </a:solidFill>
              <a:latin typeface="Arial"/>
              <a:ea typeface="Arial"/>
              <a:cs typeface="Arial"/>
              <a:sym typeface="Arial"/>
            </a:endParaRPr>
          </a:p>
          <a:p>
            <a:pPr indent="-457200" lvl="0" marL="457200" marR="0" rtl="0" algn="l">
              <a:lnSpc>
                <a:spcPct val="107916"/>
              </a:lnSpc>
              <a:spcBef>
                <a:spcPts val="600"/>
              </a:spcBef>
              <a:spcAft>
                <a:spcPts val="0"/>
              </a:spcAft>
              <a:buClr>
                <a:schemeClr val="dk1"/>
              </a:buClr>
              <a:buSzPts val="1100"/>
              <a:buFont typeface="Arial"/>
              <a:buNone/>
            </a:pPr>
            <a:r>
              <a:rPr b="1" i="0" lang="es-ES" sz="1200" u="none" cap="none" strike="noStrike">
                <a:solidFill>
                  <a:schemeClr val="dk1"/>
                </a:solidFill>
                <a:latin typeface="Arial"/>
                <a:ea typeface="Arial"/>
                <a:cs typeface="Arial"/>
                <a:sym typeface="Arial"/>
              </a:rPr>
              <a:t>2. Mejorar la experiencia del cliente(Pedidos): Facilitar la comunicación y colaboración efectiva entre tatuadores y clientes a través de herramientas interactivas en la plataforma, permitiendo consultas, intercambio de ideas y planificación detallada de los diseños de los tatuajes, para garantizar una experiencia satisfactoria para los clientes.</a:t>
            </a:r>
            <a:endParaRPr b="1" i="0" sz="1200" u="none" cap="none" strike="noStrike">
              <a:solidFill>
                <a:schemeClr val="dk1"/>
              </a:solidFill>
              <a:latin typeface="Arial"/>
              <a:ea typeface="Arial"/>
              <a:cs typeface="Arial"/>
              <a:sym typeface="Arial"/>
            </a:endParaRPr>
          </a:p>
          <a:p>
            <a:pPr indent="0" lvl="0" marL="0" marR="0" rtl="0" algn="l">
              <a:lnSpc>
                <a:spcPct val="107916"/>
              </a:lnSpc>
              <a:spcBef>
                <a:spcPts val="600"/>
              </a:spcBef>
              <a:spcAft>
                <a:spcPts val="0"/>
              </a:spcAft>
              <a:buClr>
                <a:schemeClr val="dk1"/>
              </a:buClr>
              <a:buSzPts val="1100"/>
              <a:buFont typeface="Arial"/>
              <a:buNone/>
            </a:pPr>
            <a:r>
              <a:t/>
            </a:r>
            <a:endParaRPr b="1" i="0" sz="1200" u="none" cap="none" strike="noStrike">
              <a:solidFill>
                <a:schemeClr val="dk1"/>
              </a:solidFill>
              <a:latin typeface="Arial"/>
              <a:ea typeface="Arial"/>
              <a:cs typeface="Arial"/>
              <a:sym typeface="Arial"/>
            </a:endParaRPr>
          </a:p>
          <a:p>
            <a:pPr indent="-457200" lvl="0" marL="457200" marR="0" rtl="0" algn="l">
              <a:lnSpc>
                <a:spcPct val="107916"/>
              </a:lnSpc>
              <a:spcBef>
                <a:spcPts val="600"/>
              </a:spcBef>
              <a:spcAft>
                <a:spcPts val="0"/>
              </a:spcAft>
              <a:buClr>
                <a:schemeClr val="dk1"/>
              </a:buClr>
              <a:buSzPts val="1100"/>
              <a:buFont typeface="Arial"/>
              <a:buNone/>
            </a:pPr>
            <a:r>
              <a:t/>
            </a:r>
            <a:endParaRPr b="1" i="0" sz="1200" u="none" cap="none" strike="noStrike">
              <a:solidFill>
                <a:schemeClr val="dk1"/>
              </a:solidFill>
              <a:latin typeface="Arial"/>
              <a:ea typeface="Arial"/>
              <a:cs typeface="Arial"/>
              <a:sym typeface="Arial"/>
            </a:endParaRPr>
          </a:p>
          <a:p>
            <a:pPr indent="-457200" lvl="0" marL="457200" marR="0" rtl="0" algn="l">
              <a:lnSpc>
                <a:spcPct val="107916"/>
              </a:lnSpc>
              <a:spcBef>
                <a:spcPts val="600"/>
              </a:spcBef>
              <a:spcAft>
                <a:spcPts val="0"/>
              </a:spcAft>
              <a:buClr>
                <a:schemeClr val="dk1"/>
              </a:buClr>
              <a:buSzPts val="1100"/>
              <a:buFont typeface="Arial"/>
              <a:buNone/>
            </a:pPr>
            <a:r>
              <a:rPr b="1" i="0" lang="es-ES" sz="1200" u="none" cap="none" strike="noStrike">
                <a:solidFill>
                  <a:schemeClr val="dk1"/>
                </a:solidFill>
                <a:latin typeface="Arial"/>
                <a:ea typeface="Arial"/>
                <a:cs typeface="Arial"/>
                <a:sym typeface="Arial"/>
              </a:rPr>
              <a:t>3.Construir una comunidad de artistas y entusiastas: Crear una comunidad activa y participativa de tatuadores y personas interesadas en los tatuajes, donde se fomente la interacción, el intercambio de ideas y la colaboración entre sus miembros, promoviendo así la apreciación y celebración del arte del tatuaje.</a:t>
            </a:r>
            <a:endParaRPr b="1" i="0" sz="1200" u="none" cap="none" strike="noStrike">
              <a:solidFill>
                <a:schemeClr val="dk1"/>
              </a:solidFill>
              <a:latin typeface="Arial"/>
              <a:ea typeface="Arial"/>
              <a:cs typeface="Arial"/>
              <a:sym typeface="Arial"/>
            </a:endParaRPr>
          </a:p>
          <a:p>
            <a:pPr indent="0" lvl="0" marL="0" marR="0" rtl="0" algn="l">
              <a:lnSpc>
                <a:spcPct val="107916"/>
              </a:lnSpc>
              <a:spcBef>
                <a:spcPts val="600"/>
              </a:spcBef>
              <a:spcAft>
                <a:spcPts val="0"/>
              </a:spcAft>
              <a:buClr>
                <a:schemeClr val="dk1"/>
              </a:buClr>
              <a:buSzPts val="11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30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39154aa0d2f_0_10"/>
          <p:cNvSpPr txBox="1"/>
          <p:nvPr>
            <p:ph type="title"/>
          </p:nvPr>
        </p:nvSpPr>
        <p:spPr>
          <a:xfrm>
            <a:off x="456236" y="110481"/>
            <a:ext cx="10515600" cy="1325700"/>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000000"/>
              </a:buClr>
              <a:buSzPts val="3600"/>
              <a:buFont typeface="Arial"/>
              <a:buNone/>
            </a:pPr>
            <a:r>
              <a:rPr b="1" lang="es-ES">
                <a:solidFill>
                  <a:schemeClr val="lt1"/>
                </a:solidFill>
              </a:rPr>
              <a:t>Levantamiento de Información</a:t>
            </a:r>
            <a:endParaRPr b="0" i="0" sz="1800" u="none" cap="none" strike="noStrike">
              <a:solidFill>
                <a:srgbClr val="000000"/>
              </a:solidFill>
              <a:latin typeface="Arial"/>
              <a:ea typeface="Arial"/>
              <a:cs typeface="Arial"/>
              <a:sym typeface="Arial"/>
            </a:endParaRPr>
          </a:p>
        </p:txBody>
      </p:sp>
      <p:sp>
        <p:nvSpPr>
          <p:cNvPr id="146" name="Google Shape;146;g39154aa0d2f_0_10"/>
          <p:cNvSpPr txBox="1"/>
          <p:nvPr/>
        </p:nvSpPr>
        <p:spPr>
          <a:xfrm>
            <a:off x="120600" y="1586100"/>
            <a:ext cx="10579200" cy="1666200"/>
          </a:xfrm>
          <a:prstGeom prst="rect">
            <a:avLst/>
          </a:prstGeom>
          <a:noFill/>
          <a:ln>
            <a:noFill/>
          </a:ln>
        </p:spPr>
        <p:txBody>
          <a:bodyPr anchorCtr="0" anchor="t" bIns="91425" lIns="91425" spcFirstLastPara="1" rIns="91425" wrap="square" tIns="91425">
            <a:spAutoFit/>
          </a:bodyPr>
          <a:lstStyle/>
          <a:p>
            <a:pPr indent="-457200" lvl="0" marL="457200" marR="0" rtl="0" algn="l">
              <a:lnSpc>
                <a:spcPct val="107916"/>
              </a:lnSpc>
              <a:spcBef>
                <a:spcPts val="600"/>
              </a:spcBef>
              <a:spcAft>
                <a:spcPts val="0"/>
              </a:spcAft>
              <a:buClr>
                <a:schemeClr val="dk1"/>
              </a:buClr>
              <a:buSzPts val="1100"/>
              <a:buFont typeface="Arial"/>
              <a:buNone/>
            </a:pPr>
            <a:r>
              <a:rPr b="1" i="0" lang="es-ES" sz="1200" u="none" cap="none" strike="noStrike">
                <a:solidFill>
                  <a:schemeClr val="dk1"/>
                </a:solidFill>
                <a:latin typeface="Arial"/>
                <a:ea typeface="Arial"/>
                <a:cs typeface="Arial"/>
                <a:sym typeface="Arial"/>
              </a:rPr>
              <a:t>1. compras (proveedores): Es el conjunto de acciones que permiten solicitar, aprobar y gestionar compras, generar órdenes, actualizar inventario y registrar facturas para asegurar una adquisición eficiente y controlada de materiales y servicios.</a:t>
            </a:r>
            <a:endParaRPr b="1" i="0" sz="1200" u="none" cap="none" strike="noStrike">
              <a:solidFill>
                <a:schemeClr val="dk1"/>
              </a:solidFill>
              <a:latin typeface="Arial"/>
              <a:ea typeface="Arial"/>
              <a:cs typeface="Arial"/>
              <a:sym typeface="Arial"/>
            </a:endParaRPr>
          </a:p>
          <a:p>
            <a:pPr indent="-457200" lvl="0" marL="457200" marR="0" rtl="0" algn="l">
              <a:lnSpc>
                <a:spcPct val="107916"/>
              </a:lnSpc>
              <a:spcBef>
                <a:spcPts val="600"/>
              </a:spcBef>
              <a:spcAft>
                <a:spcPts val="0"/>
              </a:spcAft>
              <a:buClr>
                <a:schemeClr val="dk1"/>
              </a:buClr>
              <a:buSzPts val="1100"/>
              <a:buFont typeface="Arial"/>
              <a:buNone/>
            </a:pPr>
            <a:r>
              <a:t/>
            </a:r>
            <a:endParaRPr b="1" i="0" sz="1200" u="none" cap="none" strike="noStrike">
              <a:solidFill>
                <a:schemeClr val="dk1"/>
              </a:solidFill>
              <a:latin typeface="Arial"/>
              <a:ea typeface="Arial"/>
              <a:cs typeface="Arial"/>
              <a:sym typeface="Arial"/>
            </a:endParaRPr>
          </a:p>
          <a:p>
            <a:pPr indent="0" lvl="0" marL="0" marR="0" rtl="0" algn="l">
              <a:lnSpc>
                <a:spcPct val="107916"/>
              </a:lnSpc>
              <a:spcBef>
                <a:spcPts val="600"/>
              </a:spcBef>
              <a:spcAft>
                <a:spcPts val="0"/>
              </a:spcAft>
              <a:buClr>
                <a:schemeClr val="dk1"/>
              </a:buClr>
              <a:buSzPts val="1100"/>
              <a:buFont typeface="Arial"/>
              <a:buNone/>
            </a:pPr>
            <a:r>
              <a:t/>
            </a:r>
            <a:endParaRPr b="1" i="0" sz="1200" u="none" cap="none" strike="noStrike">
              <a:solidFill>
                <a:schemeClr val="dk1"/>
              </a:solidFill>
              <a:latin typeface="Arial"/>
              <a:ea typeface="Arial"/>
              <a:cs typeface="Arial"/>
              <a:sym typeface="Arial"/>
            </a:endParaRPr>
          </a:p>
          <a:p>
            <a:pPr indent="-457200" lvl="0" marL="457200" marR="0" rtl="0" algn="l">
              <a:lnSpc>
                <a:spcPct val="107916"/>
              </a:lnSpc>
              <a:spcBef>
                <a:spcPts val="600"/>
              </a:spcBef>
              <a:spcAft>
                <a:spcPts val="0"/>
              </a:spcAft>
              <a:buClr>
                <a:schemeClr val="dk1"/>
              </a:buClr>
              <a:buSzPts val="1100"/>
              <a:buFont typeface="Arial"/>
              <a:buNone/>
            </a:pPr>
            <a:r>
              <a:t/>
            </a:r>
            <a:endParaRPr b="1" i="0" sz="1200" u="none" cap="none" strike="noStrike">
              <a:solidFill>
                <a:schemeClr val="dk1"/>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47" name="Google Shape;147;g39154aa0d2f_0_10"/>
          <p:cNvSpPr txBox="1"/>
          <p:nvPr/>
        </p:nvSpPr>
        <p:spPr>
          <a:xfrm>
            <a:off x="1513400" y="2091400"/>
            <a:ext cx="10426800" cy="5202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t/>
            </a:r>
            <a:endParaRPr b="1" i="0" sz="12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200"/>
              <a:buFont typeface="Arial"/>
              <a:buNone/>
            </a:pPr>
            <a:r>
              <a:rPr b="1" i="0" lang="es-ES" sz="1200" u="none" cap="none" strike="noStrike">
                <a:solidFill>
                  <a:schemeClr val="dk1"/>
                </a:solidFill>
                <a:latin typeface="Arial"/>
                <a:ea typeface="Arial"/>
                <a:cs typeface="Arial"/>
                <a:sym typeface="Arial"/>
              </a:rPr>
              <a:t>SUBPROCESOS</a:t>
            </a:r>
            <a:endParaRPr b="1" i="0" sz="1200" u="none" cap="none" strike="noStrike">
              <a:solidFill>
                <a:schemeClr val="dk1"/>
              </a:solidFill>
              <a:latin typeface="Arial"/>
              <a:ea typeface="Arial"/>
              <a:cs typeface="Arial"/>
              <a:sym typeface="Arial"/>
            </a:endParaRPr>
          </a:p>
          <a:p>
            <a:pPr indent="-304800" lvl="0" marL="457200" marR="0" rtl="0" algn="l">
              <a:lnSpc>
                <a:spcPct val="115000"/>
              </a:lnSpc>
              <a:spcBef>
                <a:spcPts val="1000"/>
              </a:spcBef>
              <a:spcAft>
                <a:spcPts val="0"/>
              </a:spcAft>
              <a:buClr>
                <a:srgbClr val="222222"/>
              </a:buClr>
              <a:buSzPts val="1200"/>
              <a:buFont typeface="Arial"/>
              <a:buAutoNum type="arabicPeriod"/>
            </a:pPr>
            <a:r>
              <a:rPr b="0" i="0" lang="es-ES" sz="1200" u="none" cap="none" strike="noStrike">
                <a:solidFill>
                  <a:srgbClr val="222222"/>
                </a:solidFill>
                <a:latin typeface="Arial"/>
                <a:ea typeface="Arial"/>
                <a:cs typeface="Arial"/>
                <a:sym typeface="Arial"/>
              </a:rPr>
              <a:t>Identificación de necesidad:</a:t>
            </a:r>
            <a:endParaRPr b="0" i="0" sz="1200" u="none" cap="none" strike="noStrike">
              <a:solidFill>
                <a:srgbClr val="222222"/>
              </a:solidFill>
              <a:latin typeface="Arial"/>
              <a:ea typeface="Arial"/>
              <a:cs typeface="Arial"/>
              <a:sym typeface="Arial"/>
            </a:endParaRPr>
          </a:p>
          <a:p>
            <a:pPr indent="-304800" lvl="1" marL="914400" marR="0" rtl="0" algn="l">
              <a:lnSpc>
                <a:spcPct val="115000"/>
              </a:lnSpc>
              <a:spcBef>
                <a:spcPts val="0"/>
              </a:spcBef>
              <a:spcAft>
                <a:spcPts val="0"/>
              </a:spcAft>
              <a:buClr>
                <a:srgbClr val="222222"/>
              </a:buClr>
              <a:buSzPts val="1200"/>
              <a:buFont typeface="Arial"/>
              <a:buAutoNum type="alphaLcPeriod"/>
            </a:pPr>
            <a:r>
              <a:rPr b="0" i="0" lang="es-ES" sz="1200" u="none" cap="none" strike="noStrike">
                <a:solidFill>
                  <a:srgbClr val="222222"/>
                </a:solidFill>
                <a:latin typeface="Arial"/>
                <a:ea typeface="Arial"/>
                <a:cs typeface="Arial"/>
                <a:sym typeface="Arial"/>
              </a:rPr>
              <a:t>El tatuador o encargado detecta que faltan insumos.</a:t>
            </a:r>
            <a:endParaRPr b="0" i="0" sz="1200" u="none" cap="none" strike="noStrike">
              <a:solidFill>
                <a:srgbClr val="222222"/>
              </a:solidFill>
              <a:latin typeface="Arial"/>
              <a:ea typeface="Arial"/>
              <a:cs typeface="Arial"/>
              <a:sym typeface="Arial"/>
            </a:endParaRPr>
          </a:p>
          <a:p>
            <a:pPr indent="-304800" lvl="1" marL="914400" marR="0" rtl="0" algn="l">
              <a:lnSpc>
                <a:spcPct val="115000"/>
              </a:lnSpc>
              <a:spcBef>
                <a:spcPts val="0"/>
              </a:spcBef>
              <a:spcAft>
                <a:spcPts val="0"/>
              </a:spcAft>
              <a:buClr>
                <a:srgbClr val="222222"/>
              </a:buClr>
              <a:buSzPts val="1200"/>
              <a:buFont typeface="Arial"/>
              <a:buAutoNum type="alphaLcPeriod"/>
            </a:pPr>
            <a:r>
              <a:rPr b="0" i="0" lang="es-ES" sz="1200" u="none" cap="none" strike="noStrike">
                <a:solidFill>
                  <a:srgbClr val="222222"/>
                </a:solidFill>
                <a:latin typeface="Arial"/>
                <a:ea typeface="Arial"/>
                <a:cs typeface="Arial"/>
                <a:sym typeface="Arial"/>
              </a:rPr>
              <a:t>Se genera una solicitud de compra en el sistema.</a:t>
            </a:r>
            <a:endParaRPr b="0" i="0" sz="1200" u="none" cap="none" strike="noStrike">
              <a:solidFill>
                <a:srgbClr val="222222"/>
              </a:solidFill>
              <a:latin typeface="Arial"/>
              <a:ea typeface="Arial"/>
              <a:cs typeface="Arial"/>
              <a:sym typeface="Arial"/>
            </a:endParaRPr>
          </a:p>
          <a:p>
            <a:pPr indent="-304800" lvl="0" marL="457200" marR="0" rtl="0" algn="l">
              <a:lnSpc>
                <a:spcPct val="115000"/>
              </a:lnSpc>
              <a:spcBef>
                <a:spcPts val="0"/>
              </a:spcBef>
              <a:spcAft>
                <a:spcPts val="0"/>
              </a:spcAft>
              <a:buClr>
                <a:srgbClr val="222222"/>
              </a:buClr>
              <a:buSzPts val="1200"/>
              <a:buFont typeface="Arial"/>
              <a:buAutoNum type="arabicPeriod"/>
            </a:pPr>
            <a:r>
              <a:rPr b="0" i="0" lang="es-ES" sz="1200" u="none" cap="none" strike="noStrike">
                <a:solidFill>
                  <a:srgbClr val="222222"/>
                </a:solidFill>
                <a:latin typeface="Arial"/>
                <a:ea typeface="Arial"/>
                <a:cs typeface="Arial"/>
                <a:sym typeface="Arial"/>
              </a:rPr>
              <a:t>Solicitud de compra:</a:t>
            </a:r>
            <a:endParaRPr b="0" i="0" sz="1200" u="none" cap="none" strike="noStrike">
              <a:solidFill>
                <a:srgbClr val="222222"/>
              </a:solidFill>
              <a:latin typeface="Arial"/>
              <a:ea typeface="Arial"/>
              <a:cs typeface="Arial"/>
              <a:sym typeface="Arial"/>
            </a:endParaRPr>
          </a:p>
          <a:p>
            <a:pPr indent="-304800" lvl="1" marL="914400" marR="0" rtl="0" algn="l">
              <a:lnSpc>
                <a:spcPct val="115000"/>
              </a:lnSpc>
              <a:spcBef>
                <a:spcPts val="0"/>
              </a:spcBef>
              <a:spcAft>
                <a:spcPts val="0"/>
              </a:spcAft>
              <a:buClr>
                <a:srgbClr val="222222"/>
              </a:buClr>
              <a:buSzPts val="1200"/>
              <a:buFont typeface="Arial"/>
              <a:buAutoNum type="alphaLcPeriod"/>
            </a:pPr>
            <a:r>
              <a:rPr b="0" i="0" lang="es-ES" sz="1200" u="none" cap="none" strike="noStrike">
                <a:solidFill>
                  <a:srgbClr val="222222"/>
                </a:solidFill>
                <a:latin typeface="Arial"/>
                <a:ea typeface="Arial"/>
                <a:cs typeface="Arial"/>
                <a:sym typeface="Arial"/>
              </a:rPr>
              <a:t>Se registra en el sistema el producto requerido, cantidad y motivo.</a:t>
            </a:r>
            <a:endParaRPr b="0" i="0" sz="1200" u="none" cap="none" strike="noStrike">
              <a:solidFill>
                <a:srgbClr val="222222"/>
              </a:solidFill>
              <a:latin typeface="Arial"/>
              <a:ea typeface="Arial"/>
              <a:cs typeface="Arial"/>
              <a:sym typeface="Arial"/>
            </a:endParaRPr>
          </a:p>
          <a:p>
            <a:pPr indent="-304800" lvl="1" marL="914400" marR="0" rtl="0" algn="l">
              <a:lnSpc>
                <a:spcPct val="115000"/>
              </a:lnSpc>
              <a:spcBef>
                <a:spcPts val="0"/>
              </a:spcBef>
              <a:spcAft>
                <a:spcPts val="0"/>
              </a:spcAft>
              <a:buClr>
                <a:srgbClr val="222222"/>
              </a:buClr>
              <a:buSzPts val="1200"/>
              <a:buFont typeface="Arial"/>
              <a:buAutoNum type="alphaLcPeriod"/>
            </a:pPr>
            <a:r>
              <a:rPr b="0" i="0" lang="es-ES" sz="1200" u="none" cap="none" strike="noStrike">
                <a:solidFill>
                  <a:srgbClr val="222222"/>
                </a:solidFill>
                <a:latin typeface="Arial"/>
                <a:ea typeface="Arial"/>
                <a:cs typeface="Arial"/>
                <a:sym typeface="Arial"/>
              </a:rPr>
              <a:t>Se envía al administrador para aprobación.</a:t>
            </a:r>
            <a:endParaRPr b="0" i="0" sz="1200" u="none" cap="none" strike="noStrike">
              <a:solidFill>
                <a:srgbClr val="222222"/>
              </a:solidFill>
              <a:latin typeface="Arial"/>
              <a:ea typeface="Arial"/>
              <a:cs typeface="Arial"/>
              <a:sym typeface="Arial"/>
            </a:endParaRPr>
          </a:p>
          <a:p>
            <a:pPr indent="-304800" lvl="0" marL="457200" marR="0" rtl="0" algn="l">
              <a:lnSpc>
                <a:spcPct val="115000"/>
              </a:lnSpc>
              <a:spcBef>
                <a:spcPts val="0"/>
              </a:spcBef>
              <a:spcAft>
                <a:spcPts val="0"/>
              </a:spcAft>
              <a:buClr>
                <a:srgbClr val="222222"/>
              </a:buClr>
              <a:buSzPts val="1200"/>
              <a:buFont typeface="Arial"/>
              <a:buAutoNum type="arabicPeriod"/>
            </a:pPr>
            <a:r>
              <a:rPr b="0" i="0" lang="es-ES" sz="1200" u="none" cap="none" strike="noStrike">
                <a:solidFill>
                  <a:srgbClr val="222222"/>
                </a:solidFill>
                <a:latin typeface="Arial"/>
                <a:ea typeface="Arial"/>
                <a:cs typeface="Arial"/>
                <a:sym typeface="Arial"/>
              </a:rPr>
              <a:t>Aprobación de compra:</a:t>
            </a:r>
            <a:endParaRPr b="1" i="0" sz="1200" u="none" cap="none" strike="noStrike">
              <a:solidFill>
                <a:srgbClr val="222222"/>
              </a:solidFill>
              <a:latin typeface="Arial"/>
              <a:ea typeface="Arial"/>
              <a:cs typeface="Arial"/>
              <a:sym typeface="Arial"/>
            </a:endParaRPr>
          </a:p>
          <a:p>
            <a:pPr indent="-304800" lvl="1" marL="914400" marR="0" rtl="0" algn="l">
              <a:lnSpc>
                <a:spcPct val="115000"/>
              </a:lnSpc>
              <a:spcBef>
                <a:spcPts val="0"/>
              </a:spcBef>
              <a:spcAft>
                <a:spcPts val="0"/>
              </a:spcAft>
              <a:buClr>
                <a:srgbClr val="222222"/>
              </a:buClr>
              <a:buSzPts val="1200"/>
              <a:buFont typeface="Arial"/>
              <a:buAutoNum type="alphaLcPeriod"/>
            </a:pPr>
            <a:r>
              <a:rPr b="0" i="0" lang="es-ES" sz="1200" u="none" cap="none" strike="noStrike">
                <a:solidFill>
                  <a:srgbClr val="222222"/>
                </a:solidFill>
                <a:latin typeface="Arial"/>
                <a:ea typeface="Arial"/>
                <a:cs typeface="Arial"/>
                <a:sym typeface="Arial"/>
              </a:rPr>
              <a:t>El administrador revisa el inventario y autoriza o rechaza la solicitud.</a:t>
            </a:r>
            <a:endParaRPr b="0" i="0" sz="1200" u="none" cap="none" strike="noStrike">
              <a:solidFill>
                <a:srgbClr val="222222"/>
              </a:solidFill>
              <a:latin typeface="Arial"/>
              <a:ea typeface="Arial"/>
              <a:cs typeface="Arial"/>
              <a:sym typeface="Arial"/>
            </a:endParaRPr>
          </a:p>
          <a:p>
            <a:pPr indent="-304800" lvl="1" marL="914400" marR="0" rtl="0" algn="l">
              <a:lnSpc>
                <a:spcPct val="115000"/>
              </a:lnSpc>
              <a:spcBef>
                <a:spcPts val="0"/>
              </a:spcBef>
              <a:spcAft>
                <a:spcPts val="0"/>
              </a:spcAft>
              <a:buClr>
                <a:srgbClr val="222222"/>
              </a:buClr>
              <a:buSzPts val="1200"/>
              <a:buFont typeface="Arial"/>
              <a:buAutoNum type="alphaLcPeriod"/>
            </a:pPr>
            <a:r>
              <a:rPr b="0" i="0" lang="es-ES" sz="1200" u="none" cap="none" strike="noStrike">
                <a:solidFill>
                  <a:srgbClr val="222222"/>
                </a:solidFill>
                <a:latin typeface="Arial"/>
                <a:ea typeface="Arial"/>
                <a:cs typeface="Arial"/>
                <a:sym typeface="Arial"/>
              </a:rPr>
              <a:t>Si la aprueba, el sistema genera una orden de compra.</a:t>
            </a:r>
            <a:endParaRPr b="0" i="0" sz="1200" u="none" cap="none" strike="noStrike">
              <a:solidFill>
                <a:srgbClr val="222222"/>
              </a:solidFill>
              <a:latin typeface="Arial"/>
              <a:ea typeface="Arial"/>
              <a:cs typeface="Arial"/>
              <a:sym typeface="Arial"/>
            </a:endParaRPr>
          </a:p>
          <a:p>
            <a:pPr indent="-304800" lvl="0" marL="457200" marR="0" rtl="0" algn="l">
              <a:lnSpc>
                <a:spcPct val="115000"/>
              </a:lnSpc>
              <a:spcBef>
                <a:spcPts val="0"/>
              </a:spcBef>
              <a:spcAft>
                <a:spcPts val="0"/>
              </a:spcAft>
              <a:buClr>
                <a:srgbClr val="222222"/>
              </a:buClr>
              <a:buSzPts val="1200"/>
              <a:buFont typeface="Arial"/>
              <a:buAutoNum type="arabicPeriod"/>
            </a:pPr>
            <a:r>
              <a:rPr b="0" i="0" lang="es-ES" sz="1200" u="none" cap="none" strike="noStrike">
                <a:solidFill>
                  <a:srgbClr val="222222"/>
                </a:solidFill>
                <a:latin typeface="Arial"/>
                <a:ea typeface="Arial"/>
                <a:cs typeface="Arial"/>
                <a:sym typeface="Arial"/>
              </a:rPr>
              <a:t>Selección de proveedor:</a:t>
            </a:r>
            <a:endParaRPr b="0" i="0" sz="1200" u="none" cap="none" strike="noStrike">
              <a:solidFill>
                <a:srgbClr val="222222"/>
              </a:solidFill>
              <a:latin typeface="Arial"/>
              <a:ea typeface="Arial"/>
              <a:cs typeface="Arial"/>
              <a:sym typeface="Arial"/>
            </a:endParaRPr>
          </a:p>
          <a:p>
            <a:pPr indent="-304800" lvl="1" marL="914400" marR="0" rtl="0" algn="l">
              <a:lnSpc>
                <a:spcPct val="115000"/>
              </a:lnSpc>
              <a:spcBef>
                <a:spcPts val="0"/>
              </a:spcBef>
              <a:spcAft>
                <a:spcPts val="0"/>
              </a:spcAft>
              <a:buClr>
                <a:srgbClr val="222222"/>
              </a:buClr>
              <a:buSzPts val="1200"/>
              <a:buFont typeface="Arial"/>
              <a:buAutoNum type="alphaLcPeriod"/>
            </a:pPr>
            <a:r>
              <a:rPr b="0" i="0" lang="es-ES" sz="1200" u="none" cap="none" strike="noStrike">
                <a:solidFill>
                  <a:srgbClr val="222222"/>
                </a:solidFill>
                <a:latin typeface="Arial"/>
                <a:ea typeface="Arial"/>
                <a:cs typeface="Arial"/>
                <a:sym typeface="Arial"/>
              </a:rPr>
              <a:t>Se elige un proveedor registrado (según precio, disponibilidad o calidad).</a:t>
            </a:r>
            <a:endParaRPr b="0" i="0" sz="1200" u="none" cap="none" strike="noStrike">
              <a:solidFill>
                <a:srgbClr val="222222"/>
              </a:solidFill>
              <a:latin typeface="Arial"/>
              <a:ea typeface="Arial"/>
              <a:cs typeface="Arial"/>
              <a:sym typeface="Arial"/>
            </a:endParaRPr>
          </a:p>
          <a:p>
            <a:pPr indent="-304800" lvl="1" marL="914400" marR="0" rtl="0" algn="l">
              <a:lnSpc>
                <a:spcPct val="115000"/>
              </a:lnSpc>
              <a:spcBef>
                <a:spcPts val="0"/>
              </a:spcBef>
              <a:spcAft>
                <a:spcPts val="0"/>
              </a:spcAft>
              <a:buClr>
                <a:srgbClr val="222222"/>
              </a:buClr>
              <a:buSzPts val="1200"/>
              <a:buFont typeface="Arial"/>
              <a:buAutoNum type="alphaLcPeriod"/>
            </a:pPr>
            <a:r>
              <a:rPr b="0" i="0" lang="es-ES" sz="1200" u="none" cap="none" strike="noStrike">
                <a:solidFill>
                  <a:srgbClr val="222222"/>
                </a:solidFill>
                <a:latin typeface="Arial"/>
                <a:ea typeface="Arial"/>
                <a:cs typeface="Arial"/>
                <a:sym typeface="Arial"/>
              </a:rPr>
              <a:t>Se envía automáticamente la orden de compra al proveedor.</a:t>
            </a:r>
            <a:endParaRPr b="0" i="0" sz="1200" u="none" cap="none" strike="noStrike">
              <a:solidFill>
                <a:srgbClr val="222222"/>
              </a:solidFill>
              <a:latin typeface="Arial"/>
              <a:ea typeface="Arial"/>
              <a:cs typeface="Arial"/>
              <a:sym typeface="Arial"/>
            </a:endParaRPr>
          </a:p>
          <a:p>
            <a:pPr indent="-304800" lvl="0" marL="457200" marR="0" rtl="0" algn="l">
              <a:lnSpc>
                <a:spcPct val="115000"/>
              </a:lnSpc>
              <a:spcBef>
                <a:spcPts val="0"/>
              </a:spcBef>
              <a:spcAft>
                <a:spcPts val="0"/>
              </a:spcAft>
              <a:buClr>
                <a:srgbClr val="222222"/>
              </a:buClr>
              <a:buSzPts val="1200"/>
              <a:buFont typeface="Arial"/>
              <a:buAutoNum type="arabicPeriod"/>
            </a:pPr>
            <a:r>
              <a:rPr b="0" i="0" lang="es-ES" sz="1200" u="none" cap="none" strike="noStrike">
                <a:solidFill>
                  <a:srgbClr val="222222"/>
                </a:solidFill>
                <a:latin typeface="Arial"/>
                <a:ea typeface="Arial"/>
                <a:cs typeface="Arial"/>
                <a:sym typeface="Arial"/>
              </a:rPr>
              <a:t>Recepción de materiales:</a:t>
            </a:r>
            <a:endParaRPr b="0" i="0" sz="1200" u="none" cap="none" strike="noStrike">
              <a:solidFill>
                <a:srgbClr val="222222"/>
              </a:solidFill>
              <a:latin typeface="Arial"/>
              <a:ea typeface="Arial"/>
              <a:cs typeface="Arial"/>
              <a:sym typeface="Arial"/>
            </a:endParaRPr>
          </a:p>
          <a:p>
            <a:pPr indent="-304800" lvl="1" marL="914400" marR="0" rtl="0" algn="l">
              <a:lnSpc>
                <a:spcPct val="115000"/>
              </a:lnSpc>
              <a:spcBef>
                <a:spcPts val="0"/>
              </a:spcBef>
              <a:spcAft>
                <a:spcPts val="0"/>
              </a:spcAft>
              <a:buClr>
                <a:srgbClr val="222222"/>
              </a:buClr>
              <a:buSzPts val="1200"/>
              <a:buFont typeface="Arial"/>
              <a:buAutoNum type="alphaLcPeriod"/>
            </a:pPr>
            <a:r>
              <a:rPr b="0" i="0" lang="es-ES" sz="1200" u="none" cap="none" strike="noStrike">
                <a:solidFill>
                  <a:srgbClr val="222222"/>
                </a:solidFill>
                <a:latin typeface="Arial"/>
                <a:ea typeface="Arial"/>
                <a:cs typeface="Arial"/>
                <a:sym typeface="Arial"/>
              </a:rPr>
              <a:t>El proveedor entrega los productos.</a:t>
            </a:r>
            <a:endParaRPr b="0" i="0" sz="1200" u="none" cap="none" strike="noStrike">
              <a:solidFill>
                <a:srgbClr val="222222"/>
              </a:solidFill>
              <a:latin typeface="Arial"/>
              <a:ea typeface="Arial"/>
              <a:cs typeface="Arial"/>
              <a:sym typeface="Arial"/>
            </a:endParaRPr>
          </a:p>
          <a:p>
            <a:pPr indent="-304800" lvl="1" marL="914400" marR="0" rtl="0" algn="l">
              <a:lnSpc>
                <a:spcPct val="115000"/>
              </a:lnSpc>
              <a:spcBef>
                <a:spcPts val="0"/>
              </a:spcBef>
              <a:spcAft>
                <a:spcPts val="0"/>
              </a:spcAft>
              <a:buClr>
                <a:srgbClr val="222222"/>
              </a:buClr>
              <a:buSzPts val="1200"/>
              <a:buFont typeface="Arial"/>
              <a:buAutoNum type="alphaLcPeriod"/>
            </a:pPr>
            <a:r>
              <a:rPr b="0" i="0" lang="es-ES" sz="1200" u="none" cap="none" strike="noStrike">
                <a:solidFill>
                  <a:srgbClr val="222222"/>
                </a:solidFill>
                <a:latin typeface="Arial"/>
                <a:ea typeface="Arial"/>
                <a:cs typeface="Arial"/>
                <a:sym typeface="Arial"/>
              </a:rPr>
              <a:t>El encargado verifica cantidades y calidad.</a:t>
            </a:r>
            <a:endParaRPr b="0" i="0" sz="1200" u="none" cap="none" strike="noStrike">
              <a:solidFill>
                <a:srgbClr val="222222"/>
              </a:solidFill>
              <a:latin typeface="Arial"/>
              <a:ea typeface="Arial"/>
              <a:cs typeface="Arial"/>
              <a:sym typeface="Arial"/>
            </a:endParaRPr>
          </a:p>
          <a:p>
            <a:pPr indent="-304800" lvl="1" marL="914400" marR="0" rtl="0" algn="l">
              <a:lnSpc>
                <a:spcPct val="115000"/>
              </a:lnSpc>
              <a:spcBef>
                <a:spcPts val="0"/>
              </a:spcBef>
              <a:spcAft>
                <a:spcPts val="0"/>
              </a:spcAft>
              <a:buClr>
                <a:srgbClr val="222222"/>
              </a:buClr>
              <a:buSzPts val="1200"/>
              <a:buFont typeface="Arial"/>
              <a:buAutoNum type="alphaLcPeriod"/>
            </a:pPr>
            <a:r>
              <a:rPr b="0" i="0" lang="es-ES" sz="1200" u="none" cap="none" strike="noStrike">
                <a:solidFill>
                  <a:srgbClr val="222222"/>
                </a:solidFill>
                <a:latin typeface="Arial"/>
                <a:ea typeface="Arial"/>
                <a:cs typeface="Arial"/>
                <a:sym typeface="Arial"/>
              </a:rPr>
              <a:t>Se actualiza el inventario.</a:t>
            </a:r>
            <a:endParaRPr b="0" i="0" sz="1200" u="none" cap="none" strike="noStrike">
              <a:solidFill>
                <a:srgbClr val="222222"/>
              </a:solidFill>
              <a:latin typeface="Arial"/>
              <a:ea typeface="Arial"/>
              <a:cs typeface="Arial"/>
              <a:sym typeface="Arial"/>
            </a:endParaRPr>
          </a:p>
          <a:p>
            <a:pPr indent="-304800" lvl="0" marL="457200" marR="0" rtl="0" algn="l">
              <a:lnSpc>
                <a:spcPct val="115000"/>
              </a:lnSpc>
              <a:spcBef>
                <a:spcPts val="0"/>
              </a:spcBef>
              <a:spcAft>
                <a:spcPts val="0"/>
              </a:spcAft>
              <a:buClr>
                <a:srgbClr val="222222"/>
              </a:buClr>
              <a:buSzPts val="1200"/>
              <a:buFont typeface="Arial"/>
              <a:buAutoNum type="arabicPeriod"/>
            </a:pPr>
            <a:r>
              <a:rPr b="0" i="0" lang="es-ES" sz="1200" u="none" cap="none" strike="noStrike">
                <a:solidFill>
                  <a:srgbClr val="222222"/>
                </a:solidFill>
                <a:latin typeface="Arial"/>
                <a:ea typeface="Arial"/>
                <a:cs typeface="Arial"/>
                <a:sym typeface="Arial"/>
              </a:rPr>
              <a:t>Registro contable y cierre de compra:</a:t>
            </a:r>
            <a:endParaRPr b="0" i="0" sz="1200" u="none" cap="none" strike="noStrike">
              <a:solidFill>
                <a:srgbClr val="222222"/>
              </a:solidFill>
              <a:latin typeface="Arial"/>
              <a:ea typeface="Arial"/>
              <a:cs typeface="Arial"/>
              <a:sym typeface="Arial"/>
            </a:endParaRPr>
          </a:p>
          <a:p>
            <a:pPr indent="-304800" lvl="1" marL="914400" marR="0" rtl="0" algn="l">
              <a:lnSpc>
                <a:spcPct val="115000"/>
              </a:lnSpc>
              <a:spcBef>
                <a:spcPts val="0"/>
              </a:spcBef>
              <a:spcAft>
                <a:spcPts val="0"/>
              </a:spcAft>
              <a:buClr>
                <a:srgbClr val="222222"/>
              </a:buClr>
              <a:buSzPts val="1200"/>
              <a:buFont typeface="Arial"/>
              <a:buAutoNum type="alphaLcPeriod"/>
            </a:pPr>
            <a:r>
              <a:rPr b="0" i="0" lang="es-ES" sz="1200" u="none" cap="none" strike="noStrike">
                <a:solidFill>
                  <a:srgbClr val="222222"/>
                </a:solidFill>
                <a:latin typeface="Arial"/>
                <a:ea typeface="Arial"/>
                <a:cs typeface="Arial"/>
                <a:sym typeface="Arial"/>
              </a:rPr>
              <a:t>El sistema guarda el registro de la factura y monto total.</a:t>
            </a:r>
            <a:endParaRPr b="0" i="0" sz="1200" u="none" cap="none" strike="noStrike">
              <a:solidFill>
                <a:srgbClr val="222222"/>
              </a:solidFill>
              <a:latin typeface="Arial"/>
              <a:ea typeface="Arial"/>
              <a:cs typeface="Arial"/>
              <a:sym typeface="Arial"/>
            </a:endParaRPr>
          </a:p>
          <a:p>
            <a:pPr indent="-304800" lvl="1" marL="914400" marR="0" rtl="0" algn="l">
              <a:lnSpc>
                <a:spcPct val="115000"/>
              </a:lnSpc>
              <a:spcBef>
                <a:spcPts val="0"/>
              </a:spcBef>
              <a:spcAft>
                <a:spcPts val="0"/>
              </a:spcAft>
              <a:buClr>
                <a:srgbClr val="222222"/>
              </a:buClr>
              <a:buSzPts val="1200"/>
              <a:buFont typeface="Arial"/>
              <a:buAutoNum type="alphaLcPeriod"/>
            </a:pPr>
            <a:r>
              <a:rPr b="0" i="0" lang="es-ES" sz="1200" u="none" cap="none" strike="noStrike">
                <a:solidFill>
                  <a:srgbClr val="222222"/>
                </a:solidFill>
                <a:latin typeface="Arial"/>
                <a:ea typeface="Arial"/>
                <a:cs typeface="Arial"/>
                <a:sym typeface="Arial"/>
              </a:rPr>
              <a:t>La información se envía al módulo de Contabilidad.</a:t>
            </a:r>
            <a:endParaRPr b="0" i="0" sz="1200" u="none" cap="none" strike="noStrike">
              <a:solidFill>
                <a:srgbClr val="222222"/>
              </a:solidFill>
              <a:latin typeface="Arial"/>
              <a:ea typeface="Arial"/>
              <a:cs typeface="Arial"/>
              <a:sym typeface="Arial"/>
            </a:endParaRPr>
          </a:p>
          <a:p>
            <a:pPr indent="0" lvl="0" marL="914400" marR="0" rtl="0" algn="l">
              <a:lnSpc>
                <a:spcPct val="115000"/>
              </a:lnSpc>
              <a:spcBef>
                <a:spcPts val="1900"/>
              </a:spcBef>
              <a:spcAft>
                <a:spcPts val="1900"/>
              </a:spcAft>
              <a:buClr>
                <a:srgbClr val="000000"/>
              </a:buClr>
              <a:buSzPts val="1200"/>
              <a:buFont typeface="Arial"/>
              <a:buNone/>
            </a:pPr>
            <a:r>
              <a:t/>
            </a:r>
            <a:endParaRPr b="0" i="0" sz="1200" u="none" cap="none" strike="noStrike">
              <a:solidFill>
                <a:srgbClr val="222222"/>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39154aa0d2f_1_13"/>
          <p:cNvSpPr txBox="1"/>
          <p:nvPr>
            <p:ph type="title"/>
          </p:nvPr>
        </p:nvSpPr>
        <p:spPr>
          <a:xfrm>
            <a:off x="456236" y="110481"/>
            <a:ext cx="10515600" cy="1325700"/>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000000"/>
              </a:buClr>
              <a:buSzPts val="3600"/>
              <a:buFont typeface="Arial"/>
              <a:buNone/>
            </a:pPr>
            <a:r>
              <a:rPr b="1" lang="es-ES">
                <a:solidFill>
                  <a:schemeClr val="lt1"/>
                </a:solidFill>
              </a:rPr>
              <a:t>Levantamiento de Información</a:t>
            </a:r>
            <a:endParaRPr b="0" i="0" sz="1800" u="none" cap="none" strike="noStrike">
              <a:solidFill>
                <a:srgbClr val="000000"/>
              </a:solidFill>
              <a:latin typeface="Arial"/>
              <a:ea typeface="Arial"/>
              <a:cs typeface="Arial"/>
              <a:sym typeface="Arial"/>
            </a:endParaRPr>
          </a:p>
        </p:txBody>
      </p:sp>
      <p:sp>
        <p:nvSpPr>
          <p:cNvPr id="153" name="Google Shape;153;g39154aa0d2f_1_13"/>
          <p:cNvSpPr txBox="1"/>
          <p:nvPr/>
        </p:nvSpPr>
        <p:spPr>
          <a:xfrm>
            <a:off x="120600" y="1586100"/>
            <a:ext cx="10579200" cy="2031600"/>
          </a:xfrm>
          <a:prstGeom prst="rect">
            <a:avLst/>
          </a:prstGeom>
          <a:noFill/>
          <a:ln>
            <a:noFill/>
          </a:ln>
        </p:spPr>
        <p:txBody>
          <a:bodyPr anchorCtr="0" anchor="t" bIns="91425" lIns="91425" spcFirstLastPara="1" rIns="91425" wrap="square" tIns="91425">
            <a:spAutoFit/>
          </a:bodyPr>
          <a:lstStyle/>
          <a:p>
            <a:pPr indent="-457200" lvl="0" marL="457200" marR="0" rtl="0" algn="l">
              <a:lnSpc>
                <a:spcPct val="107916"/>
              </a:lnSpc>
              <a:spcBef>
                <a:spcPts val="600"/>
              </a:spcBef>
              <a:spcAft>
                <a:spcPts val="0"/>
              </a:spcAft>
              <a:buClr>
                <a:schemeClr val="dk1"/>
              </a:buClr>
              <a:buSzPts val="1100"/>
              <a:buFont typeface="Arial"/>
              <a:buNone/>
            </a:pPr>
            <a:r>
              <a:rPr b="1" i="0" lang="es-ES" sz="1500" u="none" cap="none" strike="noStrike">
                <a:solidFill>
                  <a:schemeClr val="dk1"/>
                </a:solidFill>
                <a:latin typeface="Arial"/>
                <a:ea typeface="Arial"/>
                <a:cs typeface="Arial"/>
                <a:sym typeface="Arial"/>
              </a:rPr>
              <a:t>2. </a:t>
            </a:r>
            <a:r>
              <a:rPr b="1" i="0" lang="es-ES" sz="1400" u="none" cap="none" strike="noStrike">
                <a:solidFill>
                  <a:schemeClr val="dk1"/>
                </a:solidFill>
                <a:latin typeface="Arial"/>
                <a:ea typeface="Arial"/>
                <a:cs typeface="Arial"/>
                <a:sym typeface="Arial"/>
              </a:rPr>
              <a:t>Proceso de ventas:</a:t>
            </a:r>
            <a:r>
              <a:rPr b="0" i="0" lang="es-ES" sz="1400" u="none" cap="none" strike="noStrike">
                <a:solidFill>
                  <a:schemeClr val="dk1"/>
                </a:solidFill>
                <a:latin typeface="Arial"/>
                <a:ea typeface="Arial"/>
                <a:cs typeface="Arial"/>
                <a:sym typeface="Arial"/>
              </a:rPr>
              <a:t> Conjunto de pasos mediante los cuales el estudio gestiona la atención al cliente, desde el contacto inicial, cotización y pago de depósitos, hasta el cierre de la venta y fidelización, garantizando un servicio organizado y una experiencia satisfactoria.</a:t>
            </a:r>
            <a:endParaRPr b="1" i="0" sz="1500" u="none" cap="none" strike="noStrike">
              <a:solidFill>
                <a:schemeClr val="dk1"/>
              </a:solidFill>
              <a:latin typeface="Arial"/>
              <a:ea typeface="Arial"/>
              <a:cs typeface="Arial"/>
              <a:sym typeface="Arial"/>
            </a:endParaRPr>
          </a:p>
          <a:p>
            <a:pPr indent="-457200" lvl="0" marL="457200" marR="0" rtl="0" algn="l">
              <a:lnSpc>
                <a:spcPct val="107916"/>
              </a:lnSpc>
              <a:spcBef>
                <a:spcPts val="600"/>
              </a:spcBef>
              <a:spcAft>
                <a:spcPts val="0"/>
              </a:spcAft>
              <a:buClr>
                <a:schemeClr val="dk1"/>
              </a:buClr>
              <a:buSzPts val="1100"/>
              <a:buFont typeface="Arial"/>
              <a:buNone/>
            </a:pPr>
            <a:r>
              <a:t/>
            </a:r>
            <a:endParaRPr b="1" i="0" sz="1500" u="none" cap="none" strike="noStrike">
              <a:solidFill>
                <a:schemeClr val="dk1"/>
              </a:solidFill>
              <a:latin typeface="Arial"/>
              <a:ea typeface="Arial"/>
              <a:cs typeface="Arial"/>
              <a:sym typeface="Arial"/>
            </a:endParaRPr>
          </a:p>
          <a:p>
            <a:pPr indent="0" lvl="0" marL="0" marR="0" rtl="0" algn="l">
              <a:lnSpc>
                <a:spcPct val="107916"/>
              </a:lnSpc>
              <a:spcBef>
                <a:spcPts val="600"/>
              </a:spcBef>
              <a:spcAft>
                <a:spcPts val="0"/>
              </a:spcAft>
              <a:buClr>
                <a:schemeClr val="dk1"/>
              </a:buClr>
              <a:buSzPts val="1100"/>
              <a:buFont typeface="Arial"/>
              <a:buNone/>
            </a:pPr>
            <a:r>
              <a:t/>
            </a:r>
            <a:endParaRPr b="1" i="0" sz="1200" u="none" cap="none" strike="noStrike">
              <a:solidFill>
                <a:schemeClr val="dk1"/>
              </a:solidFill>
              <a:latin typeface="Arial"/>
              <a:ea typeface="Arial"/>
              <a:cs typeface="Arial"/>
              <a:sym typeface="Arial"/>
            </a:endParaRPr>
          </a:p>
          <a:p>
            <a:pPr indent="-457200" lvl="0" marL="457200" marR="0" rtl="0" algn="l">
              <a:lnSpc>
                <a:spcPct val="107916"/>
              </a:lnSpc>
              <a:spcBef>
                <a:spcPts val="600"/>
              </a:spcBef>
              <a:spcAft>
                <a:spcPts val="0"/>
              </a:spcAft>
              <a:buClr>
                <a:schemeClr val="dk1"/>
              </a:buClr>
              <a:buSzPts val="1100"/>
              <a:buFont typeface="Arial"/>
              <a:buNone/>
            </a:pPr>
            <a:r>
              <a:t/>
            </a:r>
            <a:endParaRPr b="1" i="0" sz="1200" u="none" cap="none" strike="noStrike">
              <a:solidFill>
                <a:schemeClr val="dk1"/>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54" name="Google Shape;154;g39154aa0d2f_1_13"/>
          <p:cNvSpPr txBox="1"/>
          <p:nvPr/>
        </p:nvSpPr>
        <p:spPr>
          <a:xfrm>
            <a:off x="597525" y="2551950"/>
            <a:ext cx="10374300" cy="7163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400"/>
              </a:spcBef>
              <a:spcAft>
                <a:spcPts val="0"/>
              </a:spcAft>
              <a:buClr>
                <a:srgbClr val="000000"/>
              </a:buClr>
              <a:buSzPts val="1300"/>
              <a:buFont typeface="Arial"/>
              <a:buNone/>
            </a:pPr>
            <a:r>
              <a:rPr b="1" i="0" lang="es-ES" sz="1300" u="none" cap="none" strike="noStrike">
                <a:solidFill>
                  <a:schemeClr val="dk1"/>
                </a:solidFill>
                <a:latin typeface="Arial"/>
                <a:ea typeface="Arial"/>
                <a:cs typeface="Arial"/>
                <a:sym typeface="Arial"/>
              </a:rPr>
              <a:t>Subprocesos</a:t>
            </a:r>
            <a:endParaRPr b="1" i="0" sz="13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AutoNum type="arabicPeriod"/>
            </a:pPr>
            <a:r>
              <a:rPr b="1" i="0" lang="es-ES" sz="1100" u="none" cap="none" strike="noStrike">
                <a:solidFill>
                  <a:schemeClr val="dk1"/>
                </a:solidFill>
                <a:latin typeface="Arial"/>
                <a:ea typeface="Arial"/>
                <a:cs typeface="Arial"/>
                <a:sym typeface="Arial"/>
              </a:rPr>
              <a:t>Contacto inicial</a:t>
            </a:r>
            <a:br>
              <a:rPr b="1" i="0" lang="es-ES" sz="1100" u="none" cap="none" strike="noStrike">
                <a:solidFill>
                  <a:schemeClr val="dk1"/>
                </a:solidFill>
                <a:latin typeface="Arial"/>
                <a:ea typeface="Arial"/>
                <a:cs typeface="Arial"/>
                <a:sym typeface="Arial"/>
              </a:rPr>
            </a:br>
            <a:r>
              <a:rPr b="0" i="0" lang="es-ES" sz="1100" u="none" cap="none" strike="noStrike">
                <a:solidFill>
                  <a:schemeClr val="dk1"/>
                </a:solidFill>
                <a:latin typeface="Arial"/>
                <a:ea typeface="Arial"/>
                <a:cs typeface="Arial"/>
                <a:sym typeface="Arial"/>
              </a:rPr>
              <a:t> a. El cliente contacta al estudio</a:t>
            </a:r>
            <a:br>
              <a:rPr b="0" i="0" lang="es-ES" sz="1100" u="none" cap="none" strike="noStrike">
                <a:solidFill>
                  <a:schemeClr val="dk1"/>
                </a:solidFill>
                <a:latin typeface="Arial"/>
                <a:ea typeface="Arial"/>
                <a:cs typeface="Arial"/>
                <a:sym typeface="Arial"/>
              </a:rPr>
            </a:br>
            <a:r>
              <a:rPr b="0" i="0" lang="es-ES" sz="1100" u="none" cap="none" strike="noStrike">
                <a:solidFill>
                  <a:schemeClr val="dk1"/>
                </a:solidFill>
                <a:latin typeface="Arial"/>
                <a:ea typeface="Arial"/>
                <a:cs typeface="Arial"/>
                <a:sym typeface="Arial"/>
              </a:rPr>
              <a:t> b. El recepcionista recopila detalles</a:t>
            </a:r>
            <a:br>
              <a:rPr b="0" i="0" lang="es-ES" sz="1100" u="none" cap="none" strike="noStrike">
                <a:solidFill>
                  <a:schemeClr val="dk1"/>
                </a:solidFill>
                <a:latin typeface="Arial"/>
                <a:ea typeface="Arial"/>
                <a:cs typeface="Arial"/>
                <a:sym typeface="Arial"/>
              </a:rPr>
            </a:br>
            <a:r>
              <a:rPr b="0" i="0" lang="es-ES" sz="1100" u="none" cap="none" strike="noStrike">
                <a:solidFill>
                  <a:schemeClr val="dk1"/>
                </a:solidFill>
                <a:latin typeface="Arial"/>
                <a:ea typeface="Arial"/>
                <a:cs typeface="Arial"/>
                <a:sym typeface="Arial"/>
              </a:rPr>
              <a:t> c. El cliente decide sus opciones</a:t>
            </a:r>
            <a:br>
              <a:rPr b="0" i="0" lang="es-E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AutoNum type="arabicPeriod"/>
            </a:pPr>
            <a:r>
              <a:rPr b="1" i="0" lang="es-ES" sz="1100" u="none" cap="none" strike="noStrike">
                <a:solidFill>
                  <a:schemeClr val="dk1"/>
                </a:solidFill>
                <a:latin typeface="Arial"/>
                <a:ea typeface="Arial"/>
                <a:cs typeface="Arial"/>
                <a:sym typeface="Arial"/>
              </a:rPr>
              <a:t>Cotización y Acuerdo</a:t>
            </a:r>
            <a:br>
              <a:rPr b="1" i="0" lang="es-ES" sz="1100" u="none" cap="none" strike="noStrike">
                <a:solidFill>
                  <a:schemeClr val="dk1"/>
                </a:solidFill>
                <a:latin typeface="Arial"/>
                <a:ea typeface="Arial"/>
                <a:cs typeface="Arial"/>
                <a:sym typeface="Arial"/>
              </a:rPr>
            </a:br>
            <a:r>
              <a:rPr b="0" i="0" lang="es-ES" sz="1100" u="none" cap="none" strike="noStrike">
                <a:solidFill>
                  <a:schemeClr val="dk1"/>
                </a:solidFill>
                <a:latin typeface="Arial"/>
                <a:ea typeface="Arial"/>
                <a:cs typeface="Arial"/>
                <a:sym typeface="Arial"/>
              </a:rPr>
              <a:t> a. El artista establece el precio y acuerda una fecha</a:t>
            </a:r>
            <a:br>
              <a:rPr b="0" i="0" lang="es-ES" sz="1100" u="none" cap="none" strike="noStrike">
                <a:solidFill>
                  <a:schemeClr val="dk1"/>
                </a:solidFill>
                <a:latin typeface="Arial"/>
                <a:ea typeface="Arial"/>
                <a:cs typeface="Arial"/>
                <a:sym typeface="Arial"/>
              </a:rPr>
            </a:br>
            <a:r>
              <a:rPr b="0" i="0" lang="es-ES" sz="1100" u="none" cap="none" strike="noStrike">
                <a:solidFill>
                  <a:schemeClr val="dk1"/>
                </a:solidFill>
                <a:latin typeface="Arial"/>
                <a:ea typeface="Arial"/>
                <a:cs typeface="Arial"/>
                <a:sym typeface="Arial"/>
              </a:rPr>
              <a:t> b. El cliente paga un deposito</a:t>
            </a:r>
            <a:br>
              <a:rPr b="0" i="0" lang="es-E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AutoNum type="arabicPeriod"/>
            </a:pPr>
            <a:r>
              <a:rPr b="1" i="0" lang="es-ES" sz="1100" u="none" cap="none" strike="noStrike">
                <a:solidFill>
                  <a:schemeClr val="dk1"/>
                </a:solidFill>
                <a:latin typeface="Arial"/>
                <a:ea typeface="Arial"/>
                <a:cs typeface="Arial"/>
                <a:sym typeface="Arial"/>
              </a:rPr>
              <a:t>Recordatorio de cita</a:t>
            </a:r>
            <a:br>
              <a:rPr b="1" i="0" lang="es-ES" sz="1100" u="none" cap="none" strike="noStrike">
                <a:solidFill>
                  <a:schemeClr val="dk1"/>
                </a:solidFill>
                <a:latin typeface="Arial"/>
                <a:ea typeface="Arial"/>
                <a:cs typeface="Arial"/>
                <a:sym typeface="Arial"/>
              </a:rPr>
            </a:br>
            <a:r>
              <a:rPr b="0" i="0" lang="es-ES" sz="1100" u="none" cap="none" strike="noStrike">
                <a:solidFill>
                  <a:schemeClr val="dk1"/>
                </a:solidFill>
                <a:latin typeface="Arial"/>
                <a:ea typeface="Arial"/>
                <a:cs typeface="Arial"/>
                <a:sym typeface="Arial"/>
              </a:rPr>
              <a:t> a. Se le recuerda al cliente 24 o 48 horas antes</a:t>
            </a:r>
            <a:br>
              <a:rPr b="0" i="0" lang="es-E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AutoNum type="arabicPeriod"/>
            </a:pPr>
            <a:r>
              <a:rPr b="1" i="0" lang="es-ES" sz="1100" u="none" cap="none" strike="noStrike">
                <a:solidFill>
                  <a:schemeClr val="dk1"/>
                </a:solidFill>
                <a:latin typeface="Arial"/>
                <a:ea typeface="Arial"/>
                <a:cs typeface="Arial"/>
                <a:sym typeface="Arial"/>
              </a:rPr>
              <a:t>Preparacion del área y cliente</a:t>
            </a:r>
            <a:br>
              <a:rPr b="1" i="0" lang="es-ES" sz="1100" u="none" cap="none" strike="noStrike">
                <a:solidFill>
                  <a:schemeClr val="dk1"/>
                </a:solidFill>
                <a:latin typeface="Arial"/>
                <a:ea typeface="Arial"/>
                <a:cs typeface="Arial"/>
                <a:sym typeface="Arial"/>
              </a:rPr>
            </a:br>
            <a:r>
              <a:rPr b="0" i="0" lang="es-ES" sz="1100" u="none" cap="none" strike="noStrike">
                <a:solidFill>
                  <a:schemeClr val="dk1"/>
                </a:solidFill>
                <a:latin typeface="Arial"/>
                <a:ea typeface="Arial"/>
                <a:cs typeface="Arial"/>
                <a:sym typeface="Arial"/>
              </a:rPr>
              <a:t> a. Se mantiene la zona esteril, todos los implementos apropiados y se limpia la piel del cliente</a:t>
            </a:r>
            <a:br>
              <a:rPr b="0" i="0" lang="es-ES" sz="1100" u="none" cap="none" strike="noStrike">
                <a:solidFill>
                  <a:schemeClr val="dk1"/>
                </a:solidFill>
                <a:latin typeface="Arial"/>
                <a:ea typeface="Arial"/>
                <a:cs typeface="Arial"/>
                <a:sym typeface="Arial"/>
              </a:rPr>
            </a:br>
            <a:r>
              <a:rPr b="0" i="0" lang="es-ES" sz="1100" u="none" cap="none" strike="noStrike">
                <a:solidFill>
                  <a:schemeClr val="dk1"/>
                </a:solidFill>
                <a:latin typeface="Arial"/>
                <a:ea typeface="Arial"/>
                <a:cs typeface="Arial"/>
                <a:sym typeface="Arial"/>
              </a:rPr>
              <a:t> b. Se transfiere el diseño a la piel del cliente</a:t>
            </a:r>
            <a:br>
              <a:rPr b="0" i="0" lang="es-E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AutoNum type="arabicPeriod"/>
            </a:pPr>
            <a:r>
              <a:rPr b="1" i="0" lang="es-ES" sz="1100" u="none" cap="none" strike="noStrike">
                <a:solidFill>
                  <a:schemeClr val="dk1"/>
                </a:solidFill>
                <a:latin typeface="Arial"/>
                <a:ea typeface="Arial"/>
                <a:cs typeface="Arial"/>
                <a:sym typeface="Arial"/>
              </a:rPr>
              <a:t>Proceso de tatuado</a:t>
            </a:r>
            <a:br>
              <a:rPr b="1" i="0" lang="es-ES" sz="1100" u="none" cap="none" strike="noStrike">
                <a:solidFill>
                  <a:schemeClr val="dk1"/>
                </a:solidFill>
                <a:latin typeface="Arial"/>
                <a:ea typeface="Arial"/>
                <a:cs typeface="Arial"/>
                <a:sym typeface="Arial"/>
              </a:rPr>
            </a:br>
            <a:r>
              <a:rPr b="0" i="0" lang="es-ES" sz="1100" u="none" cap="none" strike="noStrike">
                <a:solidFill>
                  <a:schemeClr val="dk1"/>
                </a:solidFill>
                <a:latin typeface="Arial"/>
                <a:ea typeface="Arial"/>
                <a:cs typeface="Arial"/>
                <a:sym typeface="Arial"/>
              </a:rPr>
              <a:t> a. El artista realiza su trabajo, dependiendo del tamaño puede tomar varias sesiones</a:t>
            </a:r>
            <a:br>
              <a:rPr b="0" i="0" lang="es-ES" sz="1100" u="none" cap="none" strike="noStrike">
                <a:solidFill>
                  <a:schemeClr val="dk1"/>
                </a:solidFill>
                <a:latin typeface="Arial"/>
                <a:ea typeface="Arial"/>
                <a:cs typeface="Arial"/>
                <a:sym typeface="Arial"/>
              </a:rPr>
            </a:br>
            <a:r>
              <a:rPr b="0" i="0" lang="es-ES" sz="1100" u="none" cap="none" strike="noStrike">
                <a:solidFill>
                  <a:schemeClr val="dk1"/>
                </a:solidFill>
                <a:latin typeface="Arial"/>
                <a:ea typeface="Arial"/>
                <a:cs typeface="Arial"/>
                <a:sym typeface="Arial"/>
              </a:rPr>
              <a:t> b. El artista y el cliente revisan el trabajo realizado</a:t>
            </a:r>
            <a:br>
              <a:rPr b="0" i="0" lang="es-E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0" lvl="0" marL="457200" marR="0" rtl="0" algn="l">
              <a:lnSpc>
                <a:spcPct val="115000"/>
              </a:lnSpc>
              <a:spcBef>
                <a:spcPts val="1200"/>
              </a:spcBef>
              <a:spcAft>
                <a:spcPts val="120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p:txBody>
      </p:sp>
      <p:sp>
        <p:nvSpPr>
          <p:cNvPr id="155" name="Google Shape;155;g39154aa0d2f_1_13"/>
          <p:cNvSpPr txBox="1"/>
          <p:nvPr/>
        </p:nvSpPr>
        <p:spPr>
          <a:xfrm>
            <a:off x="7971825" y="2821925"/>
            <a:ext cx="30000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400"/>
              </a:spcBef>
              <a:spcAft>
                <a:spcPts val="40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p:txBody>
      </p:sp>
      <p:sp>
        <p:nvSpPr>
          <p:cNvPr id="156" name="Google Shape;156;g39154aa0d2f_1_13"/>
          <p:cNvSpPr txBox="1"/>
          <p:nvPr/>
        </p:nvSpPr>
        <p:spPr>
          <a:xfrm>
            <a:off x="7381875" y="3020450"/>
            <a:ext cx="3000000" cy="3232500"/>
          </a:xfrm>
          <a:prstGeom prst="rect">
            <a:avLst/>
          </a:prstGeom>
          <a:noFill/>
          <a:ln>
            <a:noFill/>
          </a:ln>
        </p:spPr>
        <p:txBody>
          <a:bodyPr anchorCtr="0" anchor="t" bIns="91425" lIns="91425" spcFirstLastPara="1" rIns="91425" wrap="square" tIns="91425">
            <a:spAutoFit/>
          </a:bodyPr>
          <a:lstStyle/>
          <a:p>
            <a:pPr indent="-298450" lvl="0" marL="457200" marR="0" rtl="0" algn="l">
              <a:lnSpc>
                <a:spcPct val="100000"/>
              </a:lnSpc>
              <a:spcBef>
                <a:spcPts val="0"/>
              </a:spcBef>
              <a:spcAft>
                <a:spcPts val="0"/>
              </a:spcAft>
              <a:buClr>
                <a:schemeClr val="dk1"/>
              </a:buClr>
              <a:buSzPts val="1100"/>
              <a:buFont typeface="Arial"/>
              <a:buChar char="●"/>
            </a:pPr>
            <a:r>
              <a:rPr b="1" i="0" lang="es-ES" sz="1100" u="none" cap="none" strike="noStrike">
                <a:solidFill>
                  <a:schemeClr val="dk1"/>
                </a:solidFill>
                <a:latin typeface="Arial"/>
                <a:ea typeface="Arial"/>
                <a:cs typeface="Arial"/>
                <a:sym typeface="Arial"/>
              </a:rPr>
              <a:t>Post-tatuado</a:t>
            </a:r>
            <a:br>
              <a:rPr b="1" i="0" lang="es-ES" sz="1100" u="none" cap="none" strike="noStrike">
                <a:solidFill>
                  <a:schemeClr val="dk1"/>
                </a:solidFill>
                <a:latin typeface="Arial"/>
                <a:ea typeface="Arial"/>
                <a:cs typeface="Arial"/>
                <a:sym typeface="Arial"/>
              </a:rPr>
            </a:br>
            <a:r>
              <a:rPr b="0" i="0" lang="es-ES" sz="1100" u="none" cap="none" strike="noStrike">
                <a:solidFill>
                  <a:schemeClr val="dk1"/>
                </a:solidFill>
                <a:latin typeface="Arial"/>
                <a:ea typeface="Arial"/>
                <a:cs typeface="Arial"/>
                <a:sym typeface="Arial"/>
              </a:rPr>
              <a:t> a. El cliente termina de pagar el monto que le falta</a:t>
            </a:r>
            <a:br>
              <a:rPr b="0" i="0" lang="es-ES" sz="1100" u="none" cap="none" strike="noStrike">
                <a:solidFill>
                  <a:schemeClr val="dk1"/>
                </a:solidFill>
                <a:latin typeface="Arial"/>
                <a:ea typeface="Arial"/>
                <a:cs typeface="Arial"/>
                <a:sym typeface="Arial"/>
              </a:rPr>
            </a:br>
            <a:r>
              <a:rPr b="0" i="0" lang="es-ES" sz="1100" u="none" cap="none" strike="noStrike">
                <a:solidFill>
                  <a:schemeClr val="dk1"/>
                </a:solidFill>
                <a:latin typeface="Arial"/>
                <a:ea typeface="Arial"/>
                <a:cs typeface="Arial"/>
                <a:sym typeface="Arial"/>
              </a:rPr>
              <a:t> b. Se solicita una reseña o respuesta sobre el trabajo realizado</a:t>
            </a:r>
            <a:br>
              <a:rPr b="0" i="0" lang="es-E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298450" lvl="0" marL="457200" marR="0" rtl="0" algn="l">
              <a:lnSpc>
                <a:spcPct val="100000"/>
              </a:lnSpc>
              <a:spcBef>
                <a:spcPts val="0"/>
              </a:spcBef>
              <a:spcAft>
                <a:spcPts val="0"/>
              </a:spcAft>
              <a:buClr>
                <a:schemeClr val="dk1"/>
              </a:buClr>
              <a:buSzPts val="1100"/>
              <a:buFont typeface="Arial"/>
              <a:buChar char="●"/>
            </a:pPr>
            <a:r>
              <a:rPr b="1" i="0" lang="es-ES" sz="1100" u="none" cap="none" strike="noStrike">
                <a:solidFill>
                  <a:schemeClr val="dk1"/>
                </a:solidFill>
                <a:latin typeface="Arial"/>
                <a:ea typeface="Arial"/>
                <a:cs typeface="Arial"/>
                <a:sym typeface="Arial"/>
              </a:rPr>
              <a:t>Instrucciones de Post-Cuidado</a:t>
            </a:r>
            <a:br>
              <a:rPr b="1" i="0" lang="es-ES" sz="1100" u="none" cap="none" strike="noStrike">
                <a:solidFill>
                  <a:schemeClr val="dk1"/>
                </a:solidFill>
                <a:latin typeface="Arial"/>
                <a:ea typeface="Arial"/>
                <a:cs typeface="Arial"/>
                <a:sym typeface="Arial"/>
              </a:rPr>
            </a:br>
            <a:r>
              <a:rPr b="0" i="0" lang="es-ES" sz="1100" u="none" cap="none" strike="noStrike">
                <a:solidFill>
                  <a:schemeClr val="dk1"/>
                </a:solidFill>
                <a:latin typeface="Arial"/>
                <a:ea typeface="Arial"/>
                <a:cs typeface="Arial"/>
                <a:sym typeface="Arial"/>
              </a:rPr>
              <a:t> a. El artista entrega instrucciones textuales y verbales sobre el cuidado del tatuaje</a:t>
            </a:r>
            <a:br>
              <a:rPr b="0" i="0" lang="es-ES" sz="1100" u="none" cap="none" strike="noStrike">
                <a:solidFill>
                  <a:schemeClr val="dk1"/>
                </a:solidFill>
                <a:latin typeface="Arial"/>
                <a:ea typeface="Arial"/>
                <a:cs typeface="Arial"/>
                <a:sym typeface="Arial"/>
              </a:rPr>
            </a:br>
            <a:r>
              <a:rPr b="0" i="0" lang="es-ES" sz="1100" u="none" cap="none" strike="noStrike">
                <a:solidFill>
                  <a:schemeClr val="dk1"/>
                </a:solidFill>
                <a:latin typeface="Arial"/>
                <a:ea typeface="Arial"/>
                <a:cs typeface="Arial"/>
                <a:sym typeface="Arial"/>
              </a:rPr>
              <a:t> b. Se ofrecen cremas, jabones y otros objetos para el cuidado</a:t>
            </a:r>
            <a:br>
              <a:rPr b="0" i="0" lang="es-E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298450" lvl="0" marL="457200" marR="0" rtl="0" algn="l">
              <a:lnSpc>
                <a:spcPct val="100000"/>
              </a:lnSpc>
              <a:spcBef>
                <a:spcPts val="0"/>
              </a:spcBef>
              <a:spcAft>
                <a:spcPts val="0"/>
              </a:spcAft>
              <a:buClr>
                <a:schemeClr val="dk1"/>
              </a:buClr>
              <a:buSzPts val="1100"/>
              <a:buFont typeface="Arial"/>
              <a:buChar char="●"/>
            </a:pPr>
            <a:r>
              <a:rPr b="1" i="0" lang="es-ES" sz="1100" u="none" cap="none" strike="noStrike">
                <a:solidFill>
                  <a:schemeClr val="dk1"/>
                </a:solidFill>
                <a:latin typeface="Arial"/>
                <a:ea typeface="Arial"/>
                <a:cs typeface="Arial"/>
                <a:sym typeface="Arial"/>
              </a:rPr>
              <a:t>Fidelizacion</a:t>
            </a:r>
            <a:br>
              <a:rPr b="1" i="0" lang="es-ES" sz="1100" u="none" cap="none" strike="noStrike">
                <a:solidFill>
                  <a:schemeClr val="dk1"/>
                </a:solidFill>
                <a:latin typeface="Arial"/>
                <a:ea typeface="Arial"/>
                <a:cs typeface="Arial"/>
                <a:sym typeface="Arial"/>
              </a:rPr>
            </a:br>
            <a:r>
              <a:rPr b="0" i="0" lang="es-ES" sz="1100" u="none" cap="none" strike="noStrike">
                <a:solidFill>
                  <a:schemeClr val="dk1"/>
                </a:solidFill>
                <a:latin typeface="Arial"/>
                <a:ea typeface="Arial"/>
                <a:cs typeface="Arial"/>
                <a:sym typeface="Arial"/>
              </a:rPr>
              <a:t> a. El estudio pregunta como va la curacion</a:t>
            </a:r>
            <a:br>
              <a:rPr b="0" i="0" lang="es-ES" sz="1100" u="none" cap="none" strike="noStrike">
                <a:solidFill>
                  <a:schemeClr val="dk1"/>
                </a:solidFill>
                <a:latin typeface="Arial"/>
                <a:ea typeface="Arial"/>
                <a:cs typeface="Arial"/>
                <a:sym typeface="Arial"/>
              </a:rPr>
            </a:br>
            <a:r>
              <a:rPr b="0" i="0" lang="es-ES" sz="1100" u="none" cap="none" strike="noStrike">
                <a:solidFill>
                  <a:schemeClr val="dk1"/>
                </a:solidFill>
                <a:latin typeface="Arial"/>
                <a:ea typeface="Arial"/>
                <a:cs typeface="Arial"/>
                <a:sym typeface="Arial"/>
              </a:rPr>
              <a:t> b. Ofrece retoques gratis de 4 a 8 semanas si es necesario</a:t>
            </a:r>
            <a:endParaRPr b="0" i="0" sz="11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g39154aa0d2f_1_33"/>
          <p:cNvSpPr txBox="1"/>
          <p:nvPr>
            <p:ph type="title"/>
          </p:nvPr>
        </p:nvSpPr>
        <p:spPr>
          <a:xfrm>
            <a:off x="456236" y="110481"/>
            <a:ext cx="10515600" cy="1325700"/>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000000"/>
              </a:buClr>
              <a:buSzPts val="3600"/>
              <a:buFont typeface="Arial"/>
              <a:buNone/>
            </a:pPr>
            <a:r>
              <a:rPr b="1" lang="es-ES">
                <a:solidFill>
                  <a:schemeClr val="lt1"/>
                </a:solidFill>
              </a:rPr>
              <a:t>Levantamiento de Información</a:t>
            </a:r>
            <a:endParaRPr b="0" i="0" sz="1800" u="none" cap="none" strike="noStrike">
              <a:solidFill>
                <a:srgbClr val="000000"/>
              </a:solidFill>
              <a:latin typeface="Arial"/>
              <a:ea typeface="Arial"/>
              <a:cs typeface="Arial"/>
              <a:sym typeface="Arial"/>
            </a:endParaRPr>
          </a:p>
        </p:txBody>
      </p:sp>
      <p:sp>
        <p:nvSpPr>
          <p:cNvPr id="162" name="Google Shape;162;g39154aa0d2f_1_33"/>
          <p:cNvSpPr txBox="1"/>
          <p:nvPr/>
        </p:nvSpPr>
        <p:spPr>
          <a:xfrm>
            <a:off x="120600" y="1586100"/>
            <a:ext cx="10579200" cy="1799100"/>
          </a:xfrm>
          <a:prstGeom prst="rect">
            <a:avLst/>
          </a:prstGeom>
          <a:noFill/>
          <a:ln>
            <a:noFill/>
          </a:ln>
        </p:spPr>
        <p:txBody>
          <a:bodyPr anchorCtr="0" anchor="t" bIns="91425" lIns="91425" spcFirstLastPara="1" rIns="91425" wrap="square" tIns="91425">
            <a:spAutoFit/>
          </a:bodyPr>
          <a:lstStyle/>
          <a:p>
            <a:pPr indent="-457200" lvl="0" marL="457200" marR="0" rtl="0" algn="l">
              <a:lnSpc>
                <a:spcPct val="107916"/>
              </a:lnSpc>
              <a:spcBef>
                <a:spcPts val="600"/>
              </a:spcBef>
              <a:spcAft>
                <a:spcPts val="0"/>
              </a:spcAft>
              <a:buClr>
                <a:schemeClr val="dk1"/>
              </a:buClr>
              <a:buSzPts val="1100"/>
              <a:buFont typeface="Arial"/>
              <a:buNone/>
            </a:pPr>
            <a:r>
              <a:rPr b="1" i="0" lang="es-ES" sz="1500" u="none" cap="none" strike="noStrike">
                <a:solidFill>
                  <a:schemeClr val="dk1"/>
                </a:solidFill>
                <a:latin typeface="Arial"/>
                <a:ea typeface="Arial"/>
                <a:cs typeface="Arial"/>
                <a:sym typeface="Arial"/>
              </a:rPr>
              <a:t>2. </a:t>
            </a:r>
            <a:r>
              <a:rPr b="1" i="0" lang="es-ES" sz="1400" u="none" cap="none" strike="noStrike">
                <a:solidFill>
                  <a:schemeClr val="dk1"/>
                </a:solidFill>
                <a:latin typeface="Arial"/>
                <a:ea typeface="Arial"/>
                <a:cs typeface="Arial"/>
                <a:sym typeface="Arial"/>
              </a:rPr>
              <a:t>Proceso de inventario:</a:t>
            </a:r>
            <a:r>
              <a:rPr b="0" i="0" lang="es-ES" sz="1400" u="none" cap="none" strike="noStrike">
                <a:solidFill>
                  <a:schemeClr val="dk1"/>
                </a:solidFill>
                <a:latin typeface="Arial"/>
                <a:ea typeface="Arial"/>
                <a:cs typeface="Arial"/>
                <a:sym typeface="Arial"/>
              </a:rPr>
              <a:t>  Conjunto de materiales, insumos y equipos del estudio que se registran, controlan y gestionan para asegurar disponibilidad, calidad y uso eficiente en las sesiones de tatuaje.</a:t>
            </a:r>
            <a:endParaRPr b="1" i="0" sz="1500" u="none" cap="none" strike="noStrike">
              <a:solidFill>
                <a:schemeClr val="dk1"/>
              </a:solidFill>
              <a:latin typeface="Arial"/>
              <a:ea typeface="Arial"/>
              <a:cs typeface="Arial"/>
              <a:sym typeface="Arial"/>
            </a:endParaRPr>
          </a:p>
          <a:p>
            <a:pPr indent="-457200" lvl="0" marL="457200" marR="0" rtl="0" algn="l">
              <a:lnSpc>
                <a:spcPct val="107916"/>
              </a:lnSpc>
              <a:spcBef>
                <a:spcPts val="600"/>
              </a:spcBef>
              <a:spcAft>
                <a:spcPts val="0"/>
              </a:spcAft>
              <a:buClr>
                <a:schemeClr val="dk1"/>
              </a:buClr>
              <a:buSzPts val="1100"/>
              <a:buFont typeface="Arial"/>
              <a:buNone/>
            </a:pPr>
            <a:r>
              <a:t/>
            </a:r>
            <a:endParaRPr b="1" i="0" sz="1500" u="none" cap="none" strike="noStrike">
              <a:solidFill>
                <a:schemeClr val="dk1"/>
              </a:solidFill>
              <a:latin typeface="Arial"/>
              <a:ea typeface="Arial"/>
              <a:cs typeface="Arial"/>
              <a:sym typeface="Arial"/>
            </a:endParaRPr>
          </a:p>
          <a:p>
            <a:pPr indent="0" lvl="0" marL="0" marR="0" rtl="0" algn="l">
              <a:lnSpc>
                <a:spcPct val="107916"/>
              </a:lnSpc>
              <a:spcBef>
                <a:spcPts val="600"/>
              </a:spcBef>
              <a:spcAft>
                <a:spcPts val="0"/>
              </a:spcAft>
              <a:buClr>
                <a:schemeClr val="dk1"/>
              </a:buClr>
              <a:buSzPts val="1100"/>
              <a:buFont typeface="Arial"/>
              <a:buNone/>
            </a:pPr>
            <a:r>
              <a:t/>
            </a:r>
            <a:endParaRPr b="1" i="0" sz="1200" u="none" cap="none" strike="noStrike">
              <a:solidFill>
                <a:schemeClr val="dk1"/>
              </a:solidFill>
              <a:latin typeface="Arial"/>
              <a:ea typeface="Arial"/>
              <a:cs typeface="Arial"/>
              <a:sym typeface="Arial"/>
            </a:endParaRPr>
          </a:p>
          <a:p>
            <a:pPr indent="-457200" lvl="0" marL="457200" marR="0" rtl="0" algn="l">
              <a:lnSpc>
                <a:spcPct val="107916"/>
              </a:lnSpc>
              <a:spcBef>
                <a:spcPts val="600"/>
              </a:spcBef>
              <a:spcAft>
                <a:spcPts val="0"/>
              </a:spcAft>
              <a:buClr>
                <a:schemeClr val="dk1"/>
              </a:buClr>
              <a:buSzPts val="1100"/>
              <a:buFont typeface="Arial"/>
              <a:buNone/>
            </a:pPr>
            <a:r>
              <a:t/>
            </a:r>
            <a:endParaRPr b="1" i="0" sz="1200" u="none" cap="none" strike="noStrike">
              <a:solidFill>
                <a:schemeClr val="dk1"/>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63" name="Google Shape;163;g39154aa0d2f_1_33"/>
          <p:cNvSpPr txBox="1"/>
          <p:nvPr/>
        </p:nvSpPr>
        <p:spPr>
          <a:xfrm>
            <a:off x="7114625" y="4030825"/>
            <a:ext cx="10374300" cy="7163700"/>
          </a:xfrm>
          <a:prstGeom prst="rect">
            <a:avLst/>
          </a:prstGeom>
          <a:noFill/>
          <a:ln>
            <a:noFill/>
          </a:ln>
        </p:spPr>
        <p:txBody>
          <a:bodyPr anchorCtr="0" anchor="t" bIns="91425" lIns="91425" spcFirstLastPara="1" rIns="91425" wrap="square" tIns="91425">
            <a:noAutofit/>
          </a:bodyPr>
          <a:lstStyle/>
          <a:p>
            <a:pPr indent="0" lvl="0" marL="457200" marR="0" rtl="0" algn="l">
              <a:lnSpc>
                <a:spcPct val="115000"/>
              </a:lnSpc>
              <a:spcBef>
                <a:spcPts val="1200"/>
              </a:spcBef>
              <a:spcAft>
                <a:spcPts val="120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p:txBody>
      </p:sp>
      <p:sp>
        <p:nvSpPr>
          <p:cNvPr id="164" name="Google Shape;164;g39154aa0d2f_1_33"/>
          <p:cNvSpPr txBox="1"/>
          <p:nvPr/>
        </p:nvSpPr>
        <p:spPr>
          <a:xfrm>
            <a:off x="7971825" y="2821925"/>
            <a:ext cx="30000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400"/>
              </a:spcBef>
              <a:spcAft>
                <a:spcPts val="40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p:txBody>
      </p:sp>
      <p:sp>
        <p:nvSpPr>
          <p:cNvPr id="165" name="Google Shape;165;g39154aa0d2f_1_33"/>
          <p:cNvSpPr txBox="1"/>
          <p:nvPr/>
        </p:nvSpPr>
        <p:spPr>
          <a:xfrm>
            <a:off x="7021575" y="2647075"/>
            <a:ext cx="4900500" cy="3444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100"/>
              <a:buFont typeface="Arial"/>
              <a:buNone/>
            </a:pPr>
            <a:br>
              <a:rPr b="0" i="0" lang="es-E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1" i="0" lang="es-ES" sz="1100" u="none" cap="none" strike="noStrike">
                <a:solidFill>
                  <a:schemeClr val="dk1"/>
                </a:solidFill>
                <a:latin typeface="Arial"/>
                <a:ea typeface="Arial"/>
                <a:cs typeface="Arial"/>
                <a:sym typeface="Arial"/>
              </a:rPr>
              <a:t>Verificación y control físico</a:t>
            </a:r>
            <a:br>
              <a:rPr b="1" i="0" lang="es-ES" sz="1100" u="none" cap="none" strike="noStrike">
                <a:solidFill>
                  <a:schemeClr val="dk1"/>
                </a:solidFill>
                <a:latin typeface="Arial"/>
                <a:ea typeface="Arial"/>
                <a:cs typeface="Arial"/>
                <a:sym typeface="Arial"/>
              </a:rPr>
            </a:br>
            <a:r>
              <a:rPr b="0" i="0" lang="es-ES" sz="1100" u="none" cap="none" strike="noStrike">
                <a:solidFill>
                  <a:schemeClr val="dk1"/>
                </a:solidFill>
                <a:latin typeface="Arial"/>
                <a:ea typeface="Arial"/>
                <a:cs typeface="Arial"/>
                <a:sym typeface="Arial"/>
              </a:rPr>
              <a:t> a. Comparar existencias reales con registros digitales para asegurar coincidencia.</a:t>
            </a:r>
            <a:br>
              <a:rPr b="0" i="0" lang="es-ES" sz="1100" u="none" cap="none" strike="noStrike">
                <a:solidFill>
                  <a:schemeClr val="dk1"/>
                </a:solidFill>
                <a:latin typeface="Arial"/>
                <a:ea typeface="Arial"/>
                <a:cs typeface="Arial"/>
                <a:sym typeface="Arial"/>
              </a:rPr>
            </a:br>
            <a:r>
              <a:rPr b="0" i="0" lang="es-ES" sz="1100" u="none" cap="none" strike="noStrike">
                <a:solidFill>
                  <a:schemeClr val="dk1"/>
                </a:solidFill>
                <a:latin typeface="Arial"/>
                <a:ea typeface="Arial"/>
                <a:cs typeface="Arial"/>
                <a:sym typeface="Arial"/>
              </a:rPr>
              <a:t> b. Revisar estado y fechas de vencimiento de los materiales.</a:t>
            </a:r>
            <a:br>
              <a:rPr b="0" i="0" lang="es-ES" sz="1100" u="none" cap="none" strike="noStrike">
                <a:solidFill>
                  <a:schemeClr val="dk1"/>
                </a:solidFill>
                <a:latin typeface="Arial"/>
                <a:ea typeface="Arial"/>
                <a:cs typeface="Arial"/>
                <a:sym typeface="Arial"/>
              </a:rPr>
            </a:br>
            <a:r>
              <a:rPr b="0" i="0" lang="es-ES" sz="1100" u="none" cap="none" strike="noStrike">
                <a:solidFill>
                  <a:schemeClr val="dk1"/>
                </a:solidFill>
                <a:latin typeface="Arial"/>
                <a:ea typeface="Arial"/>
                <a:cs typeface="Arial"/>
                <a:sym typeface="Arial"/>
              </a:rPr>
              <a:t> </a:t>
            </a:r>
            <a:r>
              <a:rPr b="1" i="0" lang="es-ES" sz="1100" u="none" cap="none" strike="noStrike">
                <a:solidFill>
                  <a:schemeClr val="dk1"/>
                </a:solidFill>
                <a:latin typeface="Arial"/>
                <a:ea typeface="Arial"/>
                <a:cs typeface="Arial"/>
                <a:sym typeface="Arial"/>
              </a:rPr>
              <a:t>Responsables:</a:t>
            </a:r>
            <a:r>
              <a:rPr b="0" i="0" lang="es-ES" sz="1100" u="none" cap="none" strike="noStrike">
                <a:solidFill>
                  <a:schemeClr val="dk1"/>
                </a:solidFill>
                <a:latin typeface="Arial"/>
                <a:ea typeface="Arial"/>
                <a:cs typeface="Arial"/>
                <a:sym typeface="Arial"/>
              </a:rPr>
              <a:t> Encargado de inventario y administrador</a:t>
            </a:r>
            <a:br>
              <a:rPr b="0" i="0" lang="es-E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1" i="0" lang="es-ES" sz="1100" u="none" cap="none" strike="noStrike">
                <a:solidFill>
                  <a:schemeClr val="dk1"/>
                </a:solidFill>
                <a:latin typeface="Arial"/>
                <a:ea typeface="Arial"/>
                <a:cs typeface="Arial"/>
                <a:sym typeface="Arial"/>
              </a:rPr>
              <a:t>Reportes y análisis</a:t>
            </a:r>
            <a:br>
              <a:rPr b="1" i="0" lang="es-ES" sz="1100" u="none" cap="none" strike="noStrike">
                <a:solidFill>
                  <a:schemeClr val="dk1"/>
                </a:solidFill>
                <a:latin typeface="Arial"/>
                <a:ea typeface="Arial"/>
                <a:cs typeface="Arial"/>
                <a:sym typeface="Arial"/>
              </a:rPr>
            </a:br>
            <a:r>
              <a:rPr b="0" i="0" lang="es-ES" sz="1100" u="none" cap="none" strike="noStrike">
                <a:solidFill>
                  <a:schemeClr val="dk1"/>
                </a:solidFill>
                <a:latin typeface="Arial"/>
                <a:ea typeface="Arial"/>
                <a:cs typeface="Arial"/>
                <a:sym typeface="Arial"/>
              </a:rPr>
              <a:t> a. Obtener información sobre el movimiento del inventario, gastos y productos más usados.</a:t>
            </a:r>
            <a:br>
              <a:rPr b="0" i="0" lang="es-ES" sz="1100" u="none" cap="none" strike="noStrike">
                <a:solidFill>
                  <a:schemeClr val="dk1"/>
                </a:solidFill>
                <a:latin typeface="Arial"/>
                <a:ea typeface="Arial"/>
                <a:cs typeface="Arial"/>
                <a:sym typeface="Arial"/>
              </a:rPr>
            </a:br>
            <a:r>
              <a:rPr b="0" i="0" lang="es-ES" sz="1100" u="none" cap="none" strike="noStrike">
                <a:solidFill>
                  <a:schemeClr val="dk1"/>
                </a:solidFill>
                <a:latin typeface="Arial"/>
                <a:ea typeface="Arial"/>
                <a:cs typeface="Arial"/>
                <a:sym typeface="Arial"/>
              </a:rPr>
              <a:t> b. Usar estos reportes para la toma de decisiones y control financiero.</a:t>
            </a:r>
            <a:br>
              <a:rPr b="0" i="0" lang="es-ES" sz="1100" u="none" cap="none" strike="noStrike">
                <a:solidFill>
                  <a:schemeClr val="dk1"/>
                </a:solidFill>
                <a:latin typeface="Arial"/>
                <a:ea typeface="Arial"/>
                <a:cs typeface="Arial"/>
                <a:sym typeface="Arial"/>
              </a:rPr>
            </a:br>
            <a:r>
              <a:rPr b="0" i="0" lang="es-ES" sz="1100" u="none" cap="none" strike="noStrike">
                <a:solidFill>
                  <a:schemeClr val="dk1"/>
                </a:solidFill>
                <a:latin typeface="Arial"/>
                <a:ea typeface="Arial"/>
                <a:cs typeface="Arial"/>
                <a:sym typeface="Arial"/>
              </a:rPr>
              <a:t> </a:t>
            </a:r>
            <a:r>
              <a:rPr b="1" i="0" lang="es-ES" sz="1100" u="none" cap="none" strike="noStrike">
                <a:solidFill>
                  <a:schemeClr val="dk1"/>
                </a:solidFill>
                <a:latin typeface="Arial"/>
                <a:ea typeface="Arial"/>
                <a:cs typeface="Arial"/>
                <a:sym typeface="Arial"/>
              </a:rPr>
              <a:t>Responsables:</a:t>
            </a:r>
            <a:r>
              <a:rPr b="0" i="0" lang="es-ES" sz="1100" u="none" cap="none" strike="noStrike">
                <a:solidFill>
                  <a:schemeClr val="dk1"/>
                </a:solidFill>
                <a:latin typeface="Arial"/>
                <a:ea typeface="Arial"/>
                <a:cs typeface="Arial"/>
                <a:sym typeface="Arial"/>
              </a:rPr>
              <a:t> Encargado de inventario y contabilidad</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400"/>
              </a:spcAft>
              <a:buClr>
                <a:srgbClr val="000000"/>
              </a:buClr>
              <a:buSzPts val="1300"/>
              <a:buFont typeface="Arial"/>
              <a:buNone/>
            </a:pPr>
            <a:r>
              <a:t/>
            </a:r>
            <a:endParaRPr b="1" i="0" sz="1300" u="none" cap="none" strike="noStrike">
              <a:solidFill>
                <a:schemeClr val="dk1"/>
              </a:solidFill>
              <a:latin typeface="Arial"/>
              <a:ea typeface="Arial"/>
              <a:cs typeface="Arial"/>
              <a:sym typeface="Arial"/>
            </a:endParaRPr>
          </a:p>
        </p:txBody>
      </p:sp>
      <p:sp>
        <p:nvSpPr>
          <p:cNvPr id="166" name="Google Shape;166;g39154aa0d2f_1_33"/>
          <p:cNvSpPr txBox="1"/>
          <p:nvPr/>
        </p:nvSpPr>
        <p:spPr>
          <a:xfrm>
            <a:off x="260300" y="2053075"/>
            <a:ext cx="7331700" cy="4786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400"/>
              </a:spcBef>
              <a:spcAft>
                <a:spcPts val="0"/>
              </a:spcAft>
              <a:buClr>
                <a:srgbClr val="000000"/>
              </a:buClr>
              <a:buSzPts val="1300"/>
              <a:buFont typeface="Arial"/>
              <a:buNone/>
            </a:pPr>
            <a:r>
              <a:rPr b="1" i="0" lang="es-ES" sz="1300" u="none" cap="none" strike="noStrike">
                <a:solidFill>
                  <a:schemeClr val="dk1"/>
                </a:solidFill>
                <a:latin typeface="Arial"/>
                <a:ea typeface="Arial"/>
                <a:cs typeface="Arial"/>
                <a:sym typeface="Arial"/>
              </a:rPr>
              <a:t>Subprocesos de Inventario</a:t>
            </a:r>
            <a:endParaRPr b="1" i="0" sz="13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AutoNum type="arabicPeriod"/>
            </a:pPr>
            <a:r>
              <a:rPr b="1" i="0" lang="es-ES" sz="1100" u="none" cap="none" strike="noStrike">
                <a:solidFill>
                  <a:schemeClr val="dk1"/>
                </a:solidFill>
                <a:latin typeface="Arial"/>
                <a:ea typeface="Arial"/>
                <a:cs typeface="Arial"/>
                <a:sym typeface="Arial"/>
              </a:rPr>
              <a:t>Registro de productos</a:t>
            </a:r>
            <a:br>
              <a:rPr b="1" i="0" lang="es-ES" sz="1100" u="none" cap="none" strike="noStrike">
                <a:solidFill>
                  <a:schemeClr val="dk1"/>
                </a:solidFill>
                <a:latin typeface="Arial"/>
                <a:ea typeface="Arial"/>
                <a:cs typeface="Arial"/>
                <a:sym typeface="Arial"/>
              </a:rPr>
            </a:br>
            <a:r>
              <a:rPr b="0" i="0" lang="es-ES" sz="1100" u="none" cap="none" strike="noStrike">
                <a:solidFill>
                  <a:schemeClr val="dk1"/>
                </a:solidFill>
                <a:latin typeface="Arial"/>
                <a:ea typeface="Arial"/>
                <a:cs typeface="Arial"/>
                <a:sym typeface="Arial"/>
              </a:rPr>
              <a:t> a. Ingresar al sistema todos los materiales, insumos y equipos utilizados en el estudio.</a:t>
            </a:r>
            <a:br>
              <a:rPr b="0" i="0" lang="es-ES" sz="1100" u="none" cap="none" strike="noStrike">
                <a:solidFill>
                  <a:schemeClr val="dk1"/>
                </a:solidFill>
                <a:latin typeface="Arial"/>
                <a:ea typeface="Arial"/>
                <a:cs typeface="Arial"/>
                <a:sym typeface="Arial"/>
              </a:rPr>
            </a:br>
            <a:r>
              <a:rPr b="0" i="0" lang="es-ES" sz="1100" u="none" cap="none" strike="noStrike">
                <a:solidFill>
                  <a:schemeClr val="dk1"/>
                </a:solidFill>
                <a:latin typeface="Arial"/>
                <a:ea typeface="Arial"/>
                <a:cs typeface="Arial"/>
                <a:sym typeface="Arial"/>
              </a:rPr>
              <a:t> b. Incluir datos como nombre, cantidad, código y proveedor.</a:t>
            </a:r>
            <a:br>
              <a:rPr b="0" i="0" lang="es-E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AutoNum type="arabicPeriod"/>
            </a:pPr>
            <a:r>
              <a:rPr b="1" i="0" lang="es-ES" sz="1100" u="none" cap="none" strike="noStrike">
                <a:solidFill>
                  <a:schemeClr val="dk1"/>
                </a:solidFill>
                <a:latin typeface="Arial"/>
                <a:ea typeface="Arial"/>
                <a:cs typeface="Arial"/>
                <a:sym typeface="Arial"/>
              </a:rPr>
              <a:t>Control de entradas</a:t>
            </a:r>
            <a:br>
              <a:rPr b="1" i="0" lang="es-ES" sz="1100" u="none" cap="none" strike="noStrike">
                <a:solidFill>
                  <a:schemeClr val="dk1"/>
                </a:solidFill>
                <a:latin typeface="Arial"/>
                <a:ea typeface="Arial"/>
                <a:cs typeface="Arial"/>
                <a:sym typeface="Arial"/>
              </a:rPr>
            </a:br>
            <a:r>
              <a:rPr b="0" i="0" lang="es-ES" sz="1100" u="none" cap="none" strike="noStrike">
                <a:solidFill>
                  <a:schemeClr val="dk1"/>
                </a:solidFill>
                <a:latin typeface="Arial"/>
                <a:ea typeface="Arial"/>
                <a:cs typeface="Arial"/>
                <a:sym typeface="Arial"/>
              </a:rPr>
              <a:t> a. Registrar todos los productos nuevos que ingresan al inventario.</a:t>
            </a:r>
            <a:br>
              <a:rPr b="0" i="0" lang="es-ES" sz="1100" u="none" cap="none" strike="noStrike">
                <a:solidFill>
                  <a:schemeClr val="dk1"/>
                </a:solidFill>
                <a:latin typeface="Arial"/>
                <a:ea typeface="Arial"/>
                <a:cs typeface="Arial"/>
                <a:sym typeface="Arial"/>
              </a:rPr>
            </a:br>
            <a:r>
              <a:rPr b="0" i="0" lang="es-ES" sz="1100" u="none" cap="none" strike="noStrike">
                <a:solidFill>
                  <a:schemeClr val="dk1"/>
                </a:solidFill>
                <a:latin typeface="Arial"/>
                <a:ea typeface="Arial"/>
                <a:cs typeface="Arial"/>
                <a:sym typeface="Arial"/>
              </a:rPr>
              <a:t> b. Verificar estado, cantidad y fecha de llegada para mantener actualizado el stock.</a:t>
            </a:r>
            <a:br>
              <a:rPr b="0" i="0" lang="es-E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AutoNum type="arabicPeriod"/>
            </a:pPr>
            <a:r>
              <a:rPr b="1" i="0" lang="es-ES" sz="1100" u="none" cap="none" strike="noStrike">
                <a:solidFill>
                  <a:schemeClr val="dk1"/>
                </a:solidFill>
                <a:latin typeface="Arial"/>
                <a:ea typeface="Arial"/>
                <a:cs typeface="Arial"/>
                <a:sym typeface="Arial"/>
              </a:rPr>
              <a:t>Control de salidas</a:t>
            </a:r>
            <a:br>
              <a:rPr b="1" i="0" lang="es-ES" sz="1100" u="none" cap="none" strike="noStrike">
                <a:solidFill>
                  <a:schemeClr val="dk1"/>
                </a:solidFill>
                <a:latin typeface="Arial"/>
                <a:ea typeface="Arial"/>
                <a:cs typeface="Arial"/>
                <a:sym typeface="Arial"/>
              </a:rPr>
            </a:br>
            <a:r>
              <a:rPr b="0" i="0" lang="es-ES" sz="1100" u="none" cap="none" strike="noStrike">
                <a:solidFill>
                  <a:schemeClr val="dk1"/>
                </a:solidFill>
                <a:latin typeface="Arial"/>
                <a:ea typeface="Arial"/>
                <a:cs typeface="Arial"/>
                <a:sym typeface="Arial"/>
              </a:rPr>
              <a:t> a. Registrar los materiales que se utilizan en las sesiones de tatuaje o que se entregan para su uso.</a:t>
            </a:r>
            <a:br>
              <a:rPr b="0" i="0" lang="es-ES" sz="1100" u="none" cap="none" strike="noStrike">
                <a:solidFill>
                  <a:schemeClr val="dk1"/>
                </a:solidFill>
                <a:latin typeface="Arial"/>
                <a:ea typeface="Arial"/>
                <a:cs typeface="Arial"/>
                <a:sym typeface="Arial"/>
              </a:rPr>
            </a:br>
            <a:r>
              <a:rPr b="0" i="0" lang="es-ES" sz="1100" u="none" cap="none" strike="noStrike">
                <a:solidFill>
                  <a:schemeClr val="dk1"/>
                </a:solidFill>
                <a:latin typeface="Arial"/>
                <a:ea typeface="Arial"/>
                <a:cs typeface="Arial"/>
                <a:sym typeface="Arial"/>
              </a:rPr>
              <a:t> b. Cada salida debe quedar registrada para evitar pérdidas.</a:t>
            </a:r>
            <a:br>
              <a:rPr b="0" i="0" lang="es-E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AutoNum type="arabicPeriod"/>
            </a:pPr>
            <a:r>
              <a:rPr b="1" i="0" lang="es-ES" sz="1100" u="none" cap="none" strike="noStrike">
                <a:solidFill>
                  <a:schemeClr val="dk1"/>
                </a:solidFill>
                <a:latin typeface="Arial"/>
                <a:ea typeface="Arial"/>
                <a:cs typeface="Arial"/>
                <a:sym typeface="Arial"/>
              </a:rPr>
              <a:t>Reposición de materiales</a:t>
            </a:r>
            <a:br>
              <a:rPr b="1" i="0" lang="es-ES" sz="1100" u="none" cap="none" strike="noStrike">
                <a:solidFill>
                  <a:schemeClr val="dk1"/>
                </a:solidFill>
                <a:latin typeface="Arial"/>
                <a:ea typeface="Arial"/>
                <a:cs typeface="Arial"/>
                <a:sym typeface="Arial"/>
              </a:rPr>
            </a:br>
            <a:r>
              <a:rPr b="0" i="0" lang="es-ES" sz="1100" u="none" cap="none" strike="noStrike">
                <a:solidFill>
                  <a:schemeClr val="dk1"/>
                </a:solidFill>
                <a:latin typeface="Arial"/>
                <a:ea typeface="Arial"/>
                <a:cs typeface="Arial"/>
                <a:sym typeface="Arial"/>
              </a:rPr>
              <a:t> a. Asegurar que el inventario siempre cuente con suficientes insumos.</a:t>
            </a:r>
            <a:br>
              <a:rPr b="0" i="0" lang="es-ES" sz="1100" u="none" cap="none" strike="noStrike">
                <a:solidFill>
                  <a:schemeClr val="dk1"/>
                </a:solidFill>
                <a:latin typeface="Arial"/>
                <a:ea typeface="Arial"/>
                <a:cs typeface="Arial"/>
                <a:sym typeface="Arial"/>
              </a:rPr>
            </a:br>
            <a:r>
              <a:rPr b="0" i="0" lang="es-ES" sz="1100" u="none" cap="none" strike="noStrike">
                <a:solidFill>
                  <a:schemeClr val="dk1"/>
                </a:solidFill>
                <a:latin typeface="Arial"/>
                <a:ea typeface="Arial"/>
                <a:cs typeface="Arial"/>
                <a:sym typeface="Arial"/>
              </a:rPr>
              <a:t> b. Solicitar compra cuando el stock baja y gestionarla con proveedores.</a:t>
            </a:r>
            <a:br>
              <a:rPr b="0" i="0" lang="es-E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AutoNum type="arabicPeriod"/>
            </a:pPr>
            <a:r>
              <a:rPr b="1" i="0" lang="es-ES" sz="1100" u="none" cap="none" strike="noStrike">
                <a:solidFill>
                  <a:schemeClr val="dk1"/>
                </a:solidFill>
                <a:latin typeface="Arial"/>
                <a:ea typeface="Arial"/>
                <a:cs typeface="Arial"/>
                <a:sym typeface="Arial"/>
              </a:rPr>
              <a:t>Devoluciones</a:t>
            </a:r>
            <a:br>
              <a:rPr b="1" i="0" lang="es-ES" sz="1100" u="none" cap="none" strike="noStrike">
                <a:solidFill>
                  <a:schemeClr val="dk1"/>
                </a:solidFill>
                <a:latin typeface="Arial"/>
                <a:ea typeface="Arial"/>
                <a:cs typeface="Arial"/>
                <a:sym typeface="Arial"/>
              </a:rPr>
            </a:br>
            <a:r>
              <a:rPr b="0" i="0" lang="es-ES" sz="1100" u="none" cap="none" strike="noStrike">
                <a:solidFill>
                  <a:schemeClr val="dk1"/>
                </a:solidFill>
                <a:latin typeface="Arial"/>
                <a:ea typeface="Arial"/>
                <a:cs typeface="Arial"/>
                <a:sym typeface="Arial"/>
              </a:rPr>
              <a:t> a. Registrar productos devueltos por error, daño o porque no se usaron.</a:t>
            </a:r>
            <a:br>
              <a:rPr b="0" i="0" lang="es-ES" sz="1100" u="none" cap="none" strike="noStrike">
                <a:solidFill>
                  <a:schemeClr val="dk1"/>
                </a:solidFill>
                <a:latin typeface="Arial"/>
                <a:ea typeface="Arial"/>
                <a:cs typeface="Arial"/>
                <a:sym typeface="Arial"/>
              </a:rPr>
            </a:br>
            <a:r>
              <a:rPr b="0" i="0" lang="es-ES" sz="1100" u="none" cap="none" strike="noStrike">
                <a:solidFill>
                  <a:schemeClr val="dk1"/>
                </a:solidFill>
                <a:latin typeface="Arial"/>
                <a:ea typeface="Arial"/>
                <a:cs typeface="Arial"/>
                <a:sym typeface="Arial"/>
              </a:rPr>
              <a:t> b. Actualizar los registros de inventario e informar al proveedor si es necesario.</a:t>
            </a:r>
            <a:br>
              <a:rPr b="0" i="0" lang="es-E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120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g3ad7017439e_0_5"/>
          <p:cNvSpPr txBox="1"/>
          <p:nvPr>
            <p:ph type="title"/>
          </p:nvPr>
        </p:nvSpPr>
        <p:spPr>
          <a:xfrm>
            <a:off x="456236" y="110481"/>
            <a:ext cx="10515600" cy="1325700"/>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000000"/>
              </a:buClr>
              <a:buSzPts val="3600"/>
              <a:buFont typeface="Arial"/>
              <a:buNone/>
            </a:pPr>
            <a:r>
              <a:rPr b="1" lang="es-ES">
                <a:solidFill>
                  <a:schemeClr val="lt1"/>
                </a:solidFill>
              </a:rPr>
              <a:t>Requisitos Funcionales</a:t>
            </a:r>
            <a:endParaRPr b="0" i="0" sz="1800" u="none" cap="none" strike="noStrike">
              <a:solidFill>
                <a:srgbClr val="000000"/>
              </a:solidFill>
              <a:latin typeface="Arial"/>
              <a:ea typeface="Arial"/>
              <a:cs typeface="Arial"/>
              <a:sym typeface="Arial"/>
            </a:endParaRPr>
          </a:p>
        </p:txBody>
      </p:sp>
      <p:graphicFrame>
        <p:nvGraphicFramePr>
          <p:cNvPr id="172" name="Google Shape;172;g3ad7017439e_0_5"/>
          <p:cNvGraphicFramePr/>
          <p:nvPr/>
        </p:nvGraphicFramePr>
        <p:xfrm>
          <a:off x="187050" y="1586500"/>
          <a:ext cx="3000000" cy="3000000"/>
        </p:xfrm>
        <a:graphic>
          <a:graphicData uri="http://schemas.openxmlformats.org/drawingml/2006/table">
            <a:tbl>
              <a:tblPr>
                <a:noFill/>
                <a:tableStyleId>{69D0FB71-1C29-45FF-A4D8-3420556B600B}</a:tableStyleId>
              </a:tblPr>
              <a:tblGrid>
                <a:gridCol w="1207850"/>
                <a:gridCol w="4552725"/>
                <a:gridCol w="6097950"/>
              </a:tblGrid>
              <a:tr h="397900">
                <a:tc>
                  <a:txBody>
                    <a:bodyPr/>
                    <a:lstStyle/>
                    <a:p>
                      <a:pPr indent="0" lvl="0" marL="0" marR="0" rtl="0" algn="l">
                        <a:lnSpc>
                          <a:spcPct val="100000"/>
                        </a:lnSpc>
                        <a:spcBef>
                          <a:spcPts val="0"/>
                        </a:spcBef>
                        <a:spcAft>
                          <a:spcPts val="0"/>
                        </a:spcAft>
                        <a:buClr>
                          <a:srgbClr val="000000"/>
                        </a:buClr>
                        <a:buSzPts val="1600"/>
                        <a:buFont typeface="Arial"/>
                        <a:buNone/>
                      </a:pPr>
                      <a:r>
                        <a:t/>
                      </a:r>
                      <a:endParaRPr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t>REQUISITO</a:t>
                      </a:r>
                      <a:endParaRPr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t>DESCRIPCION</a:t>
                      </a:r>
                      <a:endParaRPr sz="1600" u="none" cap="none" strike="noStrike"/>
                    </a:p>
                  </a:txBody>
                  <a:tcPr marT="91425" marB="91425" marR="91425" marL="91425"/>
                </a:tc>
              </a:tr>
              <a:tr h="397900">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t>RF-1</a:t>
                      </a:r>
                      <a:endParaRPr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t>Registrar solicitudes de compra</a:t>
                      </a:r>
                      <a:endParaRPr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t>Permitir al usuario crear solicitudes con servicio y cantidades</a:t>
                      </a:r>
                      <a:endParaRPr sz="1600" u="none" cap="none" strike="noStrike"/>
                    </a:p>
                  </a:txBody>
                  <a:tcPr marT="91425" marB="91425" marR="91425" marL="91425"/>
                </a:tc>
              </a:tr>
              <a:tr h="397900">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t>FR-2</a:t>
                      </a:r>
                      <a:endParaRPr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t>Autorizar o rechazar compras</a:t>
                      </a:r>
                      <a:endParaRPr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t>Solo el administrador puede aprobar una compra</a:t>
                      </a:r>
                      <a:endParaRPr sz="1600" u="none" cap="none" strike="noStrike"/>
                    </a:p>
                  </a:txBody>
                  <a:tcPr marT="91425" marB="91425" marR="91425" marL="91425"/>
                </a:tc>
              </a:tr>
              <a:tr h="397900">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t>RF-3</a:t>
                      </a:r>
                      <a:endParaRPr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t>Registrar proveedores</a:t>
                      </a:r>
                      <a:endParaRPr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t>Permitir agregar, editar o eliminar proveedores</a:t>
                      </a:r>
                      <a:endParaRPr sz="1600" u="none" cap="none" strike="noStrike"/>
                    </a:p>
                  </a:txBody>
                  <a:tcPr marT="91425" marB="91425" marR="91425" marL="91425"/>
                </a:tc>
              </a:tr>
              <a:tr h="397900">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t>RF-4</a:t>
                      </a:r>
                      <a:endParaRPr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t>Generar órdenes de compra</a:t>
                      </a:r>
                      <a:endParaRPr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t>Crear documentos automáticos con los detalle de compra</a:t>
                      </a:r>
                      <a:endParaRPr sz="1600" u="none" cap="none" strike="noStrike"/>
                    </a:p>
                  </a:txBody>
                  <a:tcPr marT="91425" marB="91425" marR="91425" marL="91425"/>
                </a:tc>
              </a:tr>
              <a:tr h="397900">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t>RF-5</a:t>
                      </a:r>
                      <a:endParaRPr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t>Actualizar inventario automáticamente</a:t>
                      </a:r>
                      <a:endParaRPr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t>Recibir productos, el sistema debe aumentar el stock</a:t>
                      </a:r>
                      <a:endParaRPr sz="1600" u="none" cap="none" strike="noStrike"/>
                    </a:p>
                  </a:txBody>
                  <a:tcPr marT="91425" marB="91425" marR="91425" marL="91425"/>
                </a:tc>
              </a:tr>
              <a:tr h="397900">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t>RF-6</a:t>
                      </a:r>
                      <a:endParaRPr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t>Registrar facturas</a:t>
                      </a:r>
                      <a:endParaRPr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t>Guardar información de la compra para contabilidad</a:t>
                      </a:r>
                      <a:endParaRPr sz="1600" u="none" cap="none" strike="noStrike"/>
                    </a:p>
                  </a:txBody>
                  <a:tcPr marT="91425" marB="91425" marR="91425" marL="91425"/>
                </a:tc>
              </a:tr>
              <a:tr h="397900">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solidFill>
                            <a:schemeClr val="dk1"/>
                          </a:solidFill>
                        </a:rPr>
                        <a:t>RF-7</a:t>
                      </a:r>
                      <a:endParaRPr sz="16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t>Registrar ventas</a:t>
                      </a:r>
                      <a:endParaRPr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t>Permite registrar la venta de productos o servicio(Tatuajes)</a:t>
                      </a:r>
                      <a:endParaRPr sz="1600" u="none" cap="none" strike="noStrike"/>
                    </a:p>
                  </a:txBody>
                  <a:tcPr marT="91425" marB="91425" marR="91425" marL="91425"/>
                </a:tc>
              </a:tr>
              <a:tr h="397900">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solidFill>
                            <a:schemeClr val="dk1"/>
                          </a:solidFill>
                        </a:rPr>
                        <a:t>RF-8</a:t>
                      </a:r>
                      <a:endParaRPr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t>Agendar citas </a:t>
                      </a:r>
                      <a:endParaRPr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t>El sistema debe permitir crear, modificar, y cancelar citas</a:t>
                      </a:r>
                      <a:endParaRPr sz="1600" u="none" cap="none" strike="noStrike"/>
                    </a:p>
                  </a:txBody>
                  <a:tcPr marT="91425" marB="91425" marR="91425" marL="91425"/>
                </a:tc>
              </a:tr>
              <a:tr h="397900">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solidFill>
                            <a:schemeClr val="dk1"/>
                          </a:solidFill>
                        </a:rPr>
                        <a:t>RF-9</a:t>
                      </a:r>
                      <a:endParaRPr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t>Control Inventario</a:t>
                      </a:r>
                      <a:endParaRPr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t>Verificar entradas, salidas y niveles de insumos</a:t>
                      </a:r>
                      <a:endParaRPr sz="1600" u="none" cap="none" strike="noStrike"/>
                    </a:p>
                  </a:txBody>
                  <a:tcPr marT="91425" marB="91425" marR="91425" marL="91425"/>
                </a:tc>
              </a:tr>
              <a:tr h="397900">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solidFill>
                            <a:schemeClr val="dk1"/>
                          </a:solidFill>
                        </a:rPr>
                        <a:t>RF-10</a:t>
                      </a:r>
                      <a:endParaRPr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t>Procesar Pagos</a:t>
                      </a:r>
                      <a:endParaRPr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t>Registrar pagos de clientes y pagos de proovedores</a:t>
                      </a:r>
                      <a:endParaRPr sz="1600" u="none" cap="none" strike="noStrike"/>
                    </a:p>
                  </a:txBody>
                  <a:tcPr marT="91425" marB="91425" marR="91425" marL="91425"/>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graphicFrame>
        <p:nvGraphicFramePr>
          <p:cNvPr id="177" name="Google Shape;177;g3ad7017439e_0_11"/>
          <p:cNvGraphicFramePr/>
          <p:nvPr/>
        </p:nvGraphicFramePr>
        <p:xfrm>
          <a:off x="187050" y="1586500"/>
          <a:ext cx="3000000" cy="3000000"/>
        </p:xfrm>
        <a:graphic>
          <a:graphicData uri="http://schemas.openxmlformats.org/drawingml/2006/table">
            <a:tbl>
              <a:tblPr>
                <a:noFill/>
                <a:tableStyleId>{69D0FB71-1C29-45FF-A4D8-3420556B600B}</a:tableStyleId>
              </a:tblPr>
              <a:tblGrid>
                <a:gridCol w="1207850"/>
                <a:gridCol w="4552725"/>
                <a:gridCol w="6097950"/>
              </a:tblGrid>
              <a:tr h="397900">
                <a:tc>
                  <a:txBody>
                    <a:bodyPr/>
                    <a:lstStyle/>
                    <a:p>
                      <a:pPr indent="0" lvl="0" marL="0" marR="0" rtl="0" algn="l">
                        <a:lnSpc>
                          <a:spcPct val="100000"/>
                        </a:lnSpc>
                        <a:spcBef>
                          <a:spcPts val="0"/>
                        </a:spcBef>
                        <a:spcAft>
                          <a:spcPts val="0"/>
                        </a:spcAft>
                        <a:buClr>
                          <a:srgbClr val="000000"/>
                        </a:buClr>
                        <a:buSzPts val="1600"/>
                        <a:buFont typeface="Arial"/>
                        <a:buNone/>
                      </a:pPr>
                      <a:r>
                        <a:t/>
                      </a:r>
                      <a:endParaRPr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t>REQUISITO</a:t>
                      </a:r>
                      <a:endParaRPr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t>DESCRIPCIÓN</a:t>
                      </a:r>
                      <a:endParaRPr sz="1600" u="none" cap="none" strike="noStrike"/>
                    </a:p>
                  </a:txBody>
                  <a:tcPr marT="91425" marB="91425" marR="91425" marL="91425"/>
                </a:tc>
              </a:tr>
              <a:tr h="397900">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t>RF-1</a:t>
                      </a:r>
                      <a:endParaRPr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t>Seguridad</a:t>
                      </a:r>
                      <a:endParaRPr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t>Acceso mediante usuario/contraseña y permiso por rol</a:t>
                      </a:r>
                      <a:endParaRPr sz="1600" u="none" cap="none" strike="noStrike"/>
                    </a:p>
                  </a:txBody>
                  <a:tcPr marT="91425" marB="91425" marR="91425" marL="91425"/>
                </a:tc>
              </a:tr>
              <a:tr h="397900">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t>FR-2</a:t>
                      </a:r>
                      <a:endParaRPr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t>Disponibilidad</a:t>
                      </a:r>
                      <a:endParaRPr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t>El sistema debe estar disponible mínimo el 95% del tiempo</a:t>
                      </a:r>
                      <a:endParaRPr sz="1600" u="none" cap="none" strike="noStrike"/>
                    </a:p>
                  </a:txBody>
                  <a:tcPr marT="91425" marB="91425" marR="91425" marL="91425"/>
                </a:tc>
              </a:tr>
              <a:tr h="397900">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t>RF-3</a:t>
                      </a:r>
                      <a:endParaRPr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t>Rendimiento</a:t>
                      </a:r>
                      <a:endParaRPr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t>Responder acciones en menos de 3 segundos</a:t>
                      </a:r>
                      <a:endParaRPr sz="1600" u="none" cap="none" strike="noStrike"/>
                    </a:p>
                  </a:txBody>
                  <a:tcPr marT="91425" marB="91425" marR="91425" marL="91425"/>
                </a:tc>
              </a:tr>
              <a:tr h="397900">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t>RF-4</a:t>
                      </a:r>
                      <a:endParaRPr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t>Usabilidad</a:t>
                      </a:r>
                      <a:endParaRPr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t>Interfaz intuitiva para clientes y tatuadores</a:t>
                      </a:r>
                      <a:endParaRPr sz="1600" u="none" cap="none" strike="noStrike"/>
                    </a:p>
                  </a:txBody>
                  <a:tcPr marT="91425" marB="91425" marR="91425" marL="91425"/>
                </a:tc>
              </a:tr>
              <a:tr h="397900">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t>RF-5</a:t>
                      </a:r>
                      <a:endParaRPr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t>Escalabilidad</a:t>
                      </a:r>
                      <a:endParaRPr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t>Permitir agregar nuevos módulos o usuarios sin afectar rendimiento</a:t>
                      </a:r>
                      <a:endParaRPr sz="1600" u="none" cap="none" strike="noStrike"/>
                    </a:p>
                  </a:txBody>
                  <a:tcPr marT="91425" marB="91425" marR="91425" marL="91425"/>
                </a:tc>
              </a:tr>
              <a:tr h="397900">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t>RF-6</a:t>
                      </a:r>
                      <a:endParaRPr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t>Respaldo de Información</a:t>
                      </a:r>
                      <a:endParaRPr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t>Copias automáticas de la base de datos cada 24 horas</a:t>
                      </a:r>
                      <a:endParaRPr sz="1600" u="none" cap="none" strike="noStrike"/>
                    </a:p>
                  </a:txBody>
                  <a:tcPr marT="91425" marB="91425" marR="91425" marL="91425"/>
                </a:tc>
              </a:tr>
              <a:tr h="397900">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solidFill>
                            <a:schemeClr val="dk1"/>
                          </a:solidFill>
                        </a:rPr>
                        <a:t>RF-7</a:t>
                      </a:r>
                      <a:endParaRPr sz="16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t>Compatibilidad</a:t>
                      </a:r>
                      <a:endParaRPr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t>Funcionar en dispositivos móviles y computadoras </a:t>
                      </a:r>
                      <a:endParaRPr sz="1600" u="none" cap="none" strike="noStrike"/>
                    </a:p>
                  </a:txBody>
                  <a:tcPr marT="91425" marB="91425" marR="91425" marL="91425"/>
                </a:tc>
              </a:tr>
              <a:tr h="397900">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solidFill>
                            <a:schemeClr val="dk1"/>
                          </a:solidFill>
                        </a:rPr>
                        <a:t>RF-8</a:t>
                      </a:r>
                      <a:endParaRPr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t>Mantenibilidad</a:t>
                      </a:r>
                      <a:endParaRPr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t>Codigo estructurado para permitir actualizaciones faciles</a:t>
                      </a:r>
                      <a:endParaRPr sz="1600" u="none" cap="none" strike="noStrike"/>
                    </a:p>
                  </a:txBody>
                  <a:tcPr marT="91425" marB="91425" marR="91425" marL="91425"/>
                </a:tc>
              </a:tr>
              <a:tr h="397900">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solidFill>
                            <a:schemeClr val="dk1"/>
                          </a:solidFill>
                        </a:rPr>
                        <a:t>RF-9</a:t>
                      </a:r>
                      <a:endParaRPr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t>Integridad de Datos</a:t>
                      </a:r>
                      <a:endParaRPr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t>Evitar publicidad perdida o inconsistente en los registros</a:t>
                      </a:r>
                      <a:endParaRPr sz="1600" u="none" cap="none" strike="noStrike"/>
                    </a:p>
                  </a:txBody>
                  <a:tcPr marT="91425" marB="91425" marR="91425" marL="91425"/>
                </a:tc>
              </a:tr>
              <a:tr h="397900">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solidFill>
                            <a:schemeClr val="dk1"/>
                          </a:solidFill>
                        </a:rPr>
                        <a:t>RF-10</a:t>
                      </a:r>
                      <a:endParaRPr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t>Confidencialidad</a:t>
                      </a:r>
                      <a:endParaRPr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t>La información personal del cliente debe mantenerse privada</a:t>
                      </a:r>
                      <a:endParaRPr sz="1600" u="none" cap="none" strike="noStrike"/>
                    </a:p>
                  </a:txBody>
                  <a:tcPr marT="91425" marB="91425" marR="91425" marL="91425"/>
                </a:tc>
              </a:tr>
            </a:tbl>
          </a:graphicData>
        </a:graphic>
      </p:graphicFrame>
      <p:sp>
        <p:nvSpPr>
          <p:cNvPr id="178" name="Google Shape;178;g3ad7017439e_0_11"/>
          <p:cNvSpPr txBox="1"/>
          <p:nvPr>
            <p:ph type="title"/>
          </p:nvPr>
        </p:nvSpPr>
        <p:spPr>
          <a:xfrm>
            <a:off x="456236" y="110481"/>
            <a:ext cx="10515600" cy="1325700"/>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000000"/>
              </a:buClr>
              <a:buSzPts val="3600"/>
              <a:buFont typeface="Arial"/>
              <a:buNone/>
            </a:pPr>
            <a:r>
              <a:rPr b="1" lang="es-ES">
                <a:solidFill>
                  <a:schemeClr val="lt1"/>
                </a:solidFill>
              </a:rPr>
              <a:t>Requisitos NO Funcionales</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8"/>
          <p:cNvSpPr txBox="1"/>
          <p:nvPr/>
        </p:nvSpPr>
        <p:spPr>
          <a:xfrm>
            <a:off x="2840853" y="2747146"/>
            <a:ext cx="7741200" cy="10464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i="0" lang="es-ES" sz="3200" u="none" cap="none" strike="noStrike">
                <a:solidFill>
                  <a:srgbClr val="3F3F3F"/>
                </a:solidFill>
                <a:latin typeface="Calibri"/>
                <a:ea typeface="Calibri"/>
                <a:cs typeface="Calibri"/>
                <a:sym typeface="Calibri"/>
              </a:rPr>
              <a:t>INFORME TÉCNICO</a:t>
            </a:r>
            <a:endParaRPr b="0"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544E"/>
              </a:buClr>
              <a:buSzPts val="4400"/>
              <a:buFont typeface="Helvetica Neue"/>
              <a:buNone/>
            </a:pPr>
            <a:r>
              <a:t/>
            </a:r>
            <a:endParaRPr b="1" i="0" sz="3000" u="none" cap="none" strike="noStrike">
              <a:solidFill>
                <a:srgbClr val="3F3F3F"/>
              </a:solidFill>
              <a:latin typeface="Work Sans"/>
              <a:ea typeface="Work Sans"/>
              <a:cs typeface="Work Sans"/>
              <a:sym typeface="Work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9"/>
          <p:cNvSpPr txBox="1"/>
          <p:nvPr>
            <p:ph type="title"/>
          </p:nvPr>
        </p:nvSpPr>
        <p:spPr>
          <a:xfrm>
            <a:off x="456236" y="110481"/>
            <a:ext cx="10515600" cy="1325700"/>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000000"/>
              </a:buClr>
              <a:buSzPts val="3600"/>
              <a:buFont typeface="Arial"/>
              <a:buNone/>
            </a:pPr>
            <a:r>
              <a:rPr b="1" lang="es-ES">
                <a:solidFill>
                  <a:schemeClr val="lt1"/>
                </a:solidFill>
              </a:rPr>
              <a:t>Identificación de Actores</a:t>
            </a:r>
            <a:endParaRPr b="0" i="0" sz="1800" u="none" cap="none" strike="noStrike">
              <a:solidFill>
                <a:srgbClr val="000000"/>
              </a:solidFill>
              <a:latin typeface="Arial"/>
              <a:ea typeface="Arial"/>
              <a:cs typeface="Arial"/>
              <a:sym typeface="Arial"/>
            </a:endParaRPr>
          </a:p>
        </p:txBody>
      </p:sp>
      <p:graphicFrame>
        <p:nvGraphicFramePr>
          <p:cNvPr id="190" name="Google Shape;190;p9"/>
          <p:cNvGraphicFramePr/>
          <p:nvPr/>
        </p:nvGraphicFramePr>
        <p:xfrm>
          <a:off x="918750" y="2179080"/>
          <a:ext cx="3000000" cy="3000000"/>
        </p:xfrm>
        <a:graphic>
          <a:graphicData uri="http://schemas.openxmlformats.org/drawingml/2006/table">
            <a:tbl>
              <a:tblPr bandRow="1" firstRow="1">
                <a:noFill/>
                <a:tableStyleId>{FE5F24F0-0950-4391-87F5-8929D5B5EEAF}</a:tableStyleId>
              </a:tblPr>
              <a:tblGrid>
                <a:gridCol w="1973700"/>
                <a:gridCol w="8380800"/>
              </a:tblGrid>
              <a:tr h="345875">
                <a:tc>
                  <a:txBody>
                    <a:bodyPr/>
                    <a:lstStyle/>
                    <a:p>
                      <a:pPr indent="0" lvl="0" marL="0" marR="0" rtl="0" algn="l">
                        <a:lnSpc>
                          <a:spcPct val="100000"/>
                        </a:lnSpc>
                        <a:spcBef>
                          <a:spcPts val="0"/>
                        </a:spcBef>
                        <a:spcAft>
                          <a:spcPts val="0"/>
                        </a:spcAft>
                        <a:buClr>
                          <a:srgbClr val="000000"/>
                        </a:buClr>
                        <a:buSzPts val="2000"/>
                        <a:buFont typeface="Arial"/>
                        <a:buNone/>
                      </a:pPr>
                      <a:r>
                        <a:rPr lang="es-ES" sz="2000" u="none" cap="none" strike="noStrike"/>
                        <a:t>ACTORES</a:t>
                      </a:r>
                      <a:endParaRPr sz="20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2000"/>
                        <a:buFont typeface="Arial"/>
                        <a:buNone/>
                      </a:pPr>
                      <a:r>
                        <a:rPr lang="es-ES" sz="2000" u="none" cap="none" strike="noStrike"/>
                        <a:t>DESCRIPCIÓN</a:t>
                      </a:r>
                      <a:endParaRPr sz="2000" u="none" cap="none" strike="noStrike"/>
                    </a:p>
                  </a:txBody>
                  <a:tcPr marT="45725" marB="45725" marR="91450" marL="91450"/>
                </a:tc>
              </a:tr>
              <a:tr h="463075">
                <a:tc>
                  <a:txBody>
                    <a:bodyPr/>
                    <a:lstStyle/>
                    <a:p>
                      <a:pPr indent="0" lvl="0" marL="0" marR="0" rtl="0" algn="l">
                        <a:lnSpc>
                          <a:spcPct val="100000"/>
                        </a:lnSpc>
                        <a:spcBef>
                          <a:spcPts val="0"/>
                        </a:spcBef>
                        <a:spcAft>
                          <a:spcPts val="0"/>
                        </a:spcAft>
                        <a:buClr>
                          <a:srgbClr val="000000"/>
                        </a:buClr>
                        <a:buSzPts val="1400"/>
                        <a:buFont typeface="Arial"/>
                        <a:buNone/>
                      </a:pPr>
                      <a:r>
                        <a:rPr lang="es-ES" sz="1400" u="none" cap="none" strike="noStrike"/>
                        <a:t>Tatuadores</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100"/>
                        <a:buFont typeface="Arial"/>
                        <a:buNone/>
                      </a:pPr>
                      <a:r>
                        <a:rPr lang="es-ES" sz="1400" u="none" cap="none" strike="noStrike"/>
                        <a:t>Son los artistas del tatuaje que utilizan la plataforma para mostrar su trabajo, compartir su experiencia y estilo artístico, y conectarse con los clientes interesados. Los tatuadores pueden crear y actualizar sus perfiles, cargar imágenes de sus diseños y obras anteriores, responder consultas de los clientes y programar citas.</a:t>
                      </a:r>
                      <a:endParaRPr sz="1400" u="none" cap="none" strike="noStrike"/>
                    </a:p>
                    <a:p>
                      <a:pPr indent="0" lvl="0" marL="0" marR="0" rtl="0" algn="l">
                        <a:lnSpc>
                          <a:spcPct val="100000"/>
                        </a:lnSpc>
                        <a:spcBef>
                          <a:spcPts val="0"/>
                        </a:spcBef>
                        <a:spcAft>
                          <a:spcPts val="0"/>
                        </a:spcAft>
                        <a:buClr>
                          <a:schemeClr val="dk1"/>
                        </a:buClr>
                        <a:buSzPts val="1100"/>
                        <a:buFont typeface="Arial"/>
                        <a:buNone/>
                      </a:pPr>
                      <a:r>
                        <a:t/>
                      </a:r>
                      <a:endParaRPr sz="1400" u="none" cap="none" strike="noStrike"/>
                    </a:p>
                  </a:txBody>
                  <a:tcPr marT="45725" marB="45725" marR="91450" marL="91450"/>
                </a:tc>
              </a:tr>
              <a:tr h="824775">
                <a:tc>
                  <a:txBody>
                    <a:bodyPr/>
                    <a:lstStyle/>
                    <a:p>
                      <a:pPr indent="0" lvl="0" marL="0" marR="0" rtl="0" algn="l">
                        <a:lnSpc>
                          <a:spcPct val="100000"/>
                        </a:lnSpc>
                        <a:spcBef>
                          <a:spcPts val="0"/>
                        </a:spcBef>
                        <a:spcAft>
                          <a:spcPts val="0"/>
                        </a:spcAft>
                        <a:buClr>
                          <a:schemeClr val="dk1"/>
                        </a:buClr>
                        <a:buSzPts val="1400"/>
                        <a:buFont typeface="Arial"/>
                        <a:buNone/>
                      </a:pPr>
                      <a:r>
                        <a:rPr lang="es-ES" sz="1400" u="none" cap="none" strike="noStrike"/>
                        <a:t>Clientes</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100"/>
                        <a:buFont typeface="Arial"/>
                        <a:buNone/>
                      </a:pPr>
                      <a:r>
                        <a:rPr lang="es-ES" sz="1400" u="none" cap="none" strike="noStrike"/>
                        <a:t>Son las personas interesadas en obtener un tatuaje y utilizan la plataforma para buscar tatuadores, explorar su trabajo, leer reseñas y calificaciones, y comunicarse con los tatuadores para solicitar información adicional, discutir ideas de diseño y programar citas.</a:t>
                      </a:r>
                      <a:endParaRPr sz="1400" u="none" cap="none" strike="noStrike"/>
                    </a:p>
                  </a:txBody>
                  <a:tcPr marT="45725" marB="45725" marR="91450" marL="91450"/>
                </a:tc>
              </a:tr>
              <a:tr h="824775">
                <a:tc>
                  <a:txBody>
                    <a:bodyPr/>
                    <a:lstStyle/>
                    <a:p>
                      <a:pPr indent="0" lvl="0" marL="0" marR="0" rtl="0" algn="l">
                        <a:lnSpc>
                          <a:spcPct val="100000"/>
                        </a:lnSpc>
                        <a:spcBef>
                          <a:spcPts val="0"/>
                        </a:spcBef>
                        <a:spcAft>
                          <a:spcPts val="0"/>
                        </a:spcAft>
                        <a:buClr>
                          <a:srgbClr val="000000"/>
                        </a:buClr>
                        <a:buSzPts val="1400"/>
                        <a:buFont typeface="Arial"/>
                        <a:buNone/>
                      </a:pPr>
                      <a:r>
                        <a:rPr lang="es-ES" sz="1400" u="none" cap="none" strike="noStrike"/>
                        <a:t>Administradores del sistema</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s-ES" sz="1400" u="none" cap="none" strike="noStrike"/>
                        <a:t>Son los responsables de gestionar y administrar la plataforma Tattoos SFSF. Su rol incluye supervisar el funcionamiento del sistema, asegurar la seguridad de los datos, solucionar problemas técnicos, realizar actualizaciones y mejoras, y garantizar el cumplimiento de las políticas y regulaciones establecidas.</a:t>
                      </a:r>
                      <a:endParaRPr sz="1400" u="none" cap="none" strike="noStrike"/>
                    </a:p>
                  </a:txBody>
                  <a:tcPr marT="45725" marB="45725" marR="91450" marL="91450"/>
                </a:tc>
              </a:tr>
              <a:tr h="962400">
                <a:tc>
                  <a:txBody>
                    <a:bodyPr/>
                    <a:lstStyle/>
                    <a:p>
                      <a:pPr indent="0" lvl="0" marL="0" marR="0" rtl="0" algn="l">
                        <a:lnSpc>
                          <a:spcPct val="100000"/>
                        </a:lnSpc>
                        <a:spcBef>
                          <a:spcPts val="0"/>
                        </a:spcBef>
                        <a:spcAft>
                          <a:spcPts val="0"/>
                        </a:spcAft>
                        <a:buClr>
                          <a:srgbClr val="000000"/>
                        </a:buClr>
                        <a:buSzPts val="1400"/>
                        <a:buFont typeface="Arial"/>
                        <a:buNone/>
                      </a:pPr>
                      <a:r>
                        <a:rPr lang="es-ES" sz="1400" u="none" cap="none" strike="noStrike"/>
                        <a:t>Proveedores de servicios relacionados</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s-ES" sz="1400" u="none" cap="none" strike="noStrike"/>
                        <a:t>Son las entidades o individuos que ofrecen servicios relacionados con la industria del tatuaje, como proveedores de equipos y suministros, estudios de tatuajes físicos, servicios de envío de productos, entre otros. Estos actores pueden tener integraciones o colaboraciones con la plataforma para ofrecer servicios complementarios a los usuarios.</a:t>
                      </a:r>
                      <a:endParaRPr sz="1400" u="none" cap="none" strike="noStrike"/>
                    </a:p>
                  </a:txBody>
                  <a:tcPr marT="45725" marB="45725" marR="91450" marL="91450"/>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0"/>
          <p:cNvSpPr txBox="1"/>
          <p:nvPr>
            <p:ph type="title"/>
          </p:nvPr>
        </p:nvSpPr>
        <p:spPr>
          <a:xfrm>
            <a:off x="456236" y="110481"/>
            <a:ext cx="10515600" cy="1325700"/>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000000"/>
              </a:buClr>
              <a:buSzPts val="3600"/>
              <a:buFont typeface="Arial"/>
              <a:buNone/>
            </a:pPr>
            <a:r>
              <a:rPr b="1" lang="es-ES">
                <a:solidFill>
                  <a:schemeClr val="lt1"/>
                </a:solidFill>
              </a:rPr>
              <a:t>Requerimientos del Sistema</a:t>
            </a:r>
            <a:endParaRPr b="0" i="0" sz="1800" u="none" cap="none" strike="noStrike">
              <a:solidFill>
                <a:srgbClr val="000000"/>
              </a:solidFill>
              <a:latin typeface="Arial"/>
              <a:ea typeface="Arial"/>
              <a:cs typeface="Arial"/>
              <a:sym typeface="Arial"/>
            </a:endParaRPr>
          </a:p>
        </p:txBody>
      </p:sp>
      <p:graphicFrame>
        <p:nvGraphicFramePr>
          <p:cNvPr id="196" name="Google Shape;196;p10"/>
          <p:cNvGraphicFramePr/>
          <p:nvPr/>
        </p:nvGraphicFramePr>
        <p:xfrm>
          <a:off x="1358945" y="1910599"/>
          <a:ext cx="3000000" cy="3000000"/>
        </p:xfrm>
        <a:graphic>
          <a:graphicData uri="http://schemas.openxmlformats.org/drawingml/2006/table">
            <a:tbl>
              <a:tblPr bandRow="1" firstRow="1">
                <a:noFill/>
                <a:tableStyleId>{FE5F24F0-0950-4391-87F5-8929D5B5EEAF}</a:tableStyleId>
              </a:tblPr>
              <a:tblGrid>
                <a:gridCol w="2264600"/>
                <a:gridCol w="7209500"/>
              </a:tblGrid>
              <a:tr h="543250">
                <a:tc>
                  <a:txBody>
                    <a:bodyPr/>
                    <a:lstStyle/>
                    <a:p>
                      <a:pPr indent="0" lvl="0" marL="0" marR="0" rtl="0" algn="ctr">
                        <a:lnSpc>
                          <a:spcPct val="100000"/>
                        </a:lnSpc>
                        <a:spcBef>
                          <a:spcPts val="0"/>
                        </a:spcBef>
                        <a:spcAft>
                          <a:spcPts val="0"/>
                        </a:spcAft>
                        <a:buClr>
                          <a:srgbClr val="000000"/>
                        </a:buClr>
                        <a:buSzPts val="2000"/>
                        <a:buFont typeface="Arial"/>
                        <a:buNone/>
                      </a:pPr>
                      <a:r>
                        <a:rPr lang="es-ES" sz="2000" u="none" cap="none" strike="noStrike"/>
                        <a:t>REQUISITO</a:t>
                      </a:r>
                      <a:endParaRPr sz="20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2000"/>
                        <a:buFont typeface="Arial"/>
                        <a:buNone/>
                      </a:pPr>
                      <a:r>
                        <a:rPr lang="es-ES" sz="2000" u="none" cap="none" strike="noStrike"/>
                        <a:t>DESCRIPCIÓN</a:t>
                      </a:r>
                      <a:endParaRPr sz="2000" u="none" cap="none" strike="noStrike"/>
                    </a:p>
                  </a:txBody>
                  <a:tcPr marT="45725" marB="45725" marR="91450" marL="91450"/>
                </a:tc>
              </a:tr>
              <a:tr h="1171625">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t>Seguridad de la información</a:t>
                      </a:r>
                      <a:endParaRPr sz="16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100"/>
                        <a:buFont typeface="Arial"/>
                        <a:buNone/>
                      </a:pPr>
                      <a:r>
                        <a:rPr lang="es-ES" sz="1400" u="none" cap="none" strike="noStrike"/>
                        <a:t>El sistema debe garantizar la seguridad de la información almacenada en la plataforma, como los datos personales de los usuarios y la información confidencial de los tatuadores. Esto implica implementar medidas de seguridad robustas, como el cifrado de datos, el control de acceso basado en roles y la protección contra ataques cibernéticos, para evitar accesos no autorizados y salvaguardar la privacidad de los usuarios.</a:t>
                      </a:r>
                      <a:endParaRPr sz="1400" u="none" cap="none" strike="noStrike"/>
                    </a:p>
                  </a:txBody>
                  <a:tcPr marT="45725" marB="45725" marR="91450" marL="91450"/>
                </a:tc>
              </a:tr>
              <a:tr h="984875">
                <a:tc>
                  <a:txBody>
                    <a:bodyPr/>
                    <a:lstStyle/>
                    <a:p>
                      <a:pPr indent="0" lvl="0" marL="0" marR="0" rtl="0" algn="l">
                        <a:lnSpc>
                          <a:spcPct val="100000"/>
                        </a:lnSpc>
                        <a:spcBef>
                          <a:spcPts val="0"/>
                        </a:spcBef>
                        <a:spcAft>
                          <a:spcPts val="0"/>
                        </a:spcAft>
                        <a:buClr>
                          <a:srgbClr val="000000"/>
                        </a:buClr>
                        <a:buSzPts val="1600"/>
                        <a:buFont typeface="Arial"/>
                        <a:buNone/>
                      </a:pPr>
                      <a:r>
                        <a:rPr lang="es-ES" sz="1600" u="none" cap="none" strike="noStrike"/>
                        <a:t>Interfaz de usuario intuitiva</a:t>
                      </a:r>
                      <a:endParaRPr sz="16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100"/>
                        <a:buFont typeface="Arial"/>
                        <a:buNone/>
                      </a:pPr>
                      <a:r>
                        <a:rPr lang="es-ES" sz="1400" u="none" cap="none" strike="noStrike"/>
                        <a:t>El sistema debe contar con una interfaz de usuario intuitiva y fácil de usar, tanto para los tatuadores como para los clientes. Esto implica diseñar una navegación clara y sencilla, con un diseño atractivo y una disposición lógica de elementos. Se deben utilizar etiquetas claras y comprensibles, iconos visuales y proporcionar retroalimentación adecuada para facilitar la interacción fluida con la plataforma.</a:t>
                      </a:r>
                      <a:endParaRPr sz="1400" u="none" cap="none" strike="noStrike"/>
                    </a:p>
                  </a:txBody>
                  <a:tcPr marT="45725" marB="45725" marR="91450" marL="91450"/>
                </a:tc>
              </a:tr>
              <a:tr h="1147500">
                <a:tc>
                  <a:txBody>
                    <a:bodyPr/>
                    <a:lstStyle/>
                    <a:p>
                      <a:pPr indent="0" lvl="0" marL="0" marR="0" rtl="0" algn="l">
                        <a:lnSpc>
                          <a:spcPct val="100000"/>
                        </a:lnSpc>
                        <a:spcBef>
                          <a:spcPts val="0"/>
                        </a:spcBef>
                        <a:spcAft>
                          <a:spcPts val="0"/>
                        </a:spcAft>
                        <a:buClr>
                          <a:srgbClr val="000000"/>
                        </a:buClr>
                        <a:buSzPts val="1400"/>
                        <a:buFont typeface="Arial"/>
                        <a:buNone/>
                      </a:pPr>
                      <a:r>
                        <a:rPr lang="es-ES" sz="1400" u="none" cap="none" strike="noStrike"/>
                        <a:t>Búsqueda y filtrado de tatuadores</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s-ES" sz="1400" u="none" cap="none" strike="noStrike"/>
                        <a:t>El sistema debe proporcionar a los usuarios una función de búsqueda avanzada y filtros para encontrar tatuadores según sus preferencias. Los usuarios deben poder buscar por ubicación, estilo de tatuaje, calificaciones, reseñas y otros criterios relevantes. Esto permitirá a los clientes encontrar tatuadores que se ajusten a sus necesidades específicas.</a:t>
                      </a:r>
                      <a:endParaRPr sz="1400" u="none" cap="none" strike="noStrike"/>
                    </a:p>
                  </a:txBody>
                  <a:tcPr marT="45725" marB="45725" marR="91450" marL="91450"/>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g39154aa0d2f_0_5"/>
          <p:cNvSpPr txBox="1"/>
          <p:nvPr/>
        </p:nvSpPr>
        <p:spPr>
          <a:xfrm>
            <a:off x="2840853" y="2747146"/>
            <a:ext cx="7741200" cy="10467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i="0" lang="es-ES" sz="3200" u="none" cap="none" strike="noStrike">
                <a:solidFill>
                  <a:srgbClr val="3F3F3F"/>
                </a:solidFill>
                <a:latin typeface="Calibri"/>
                <a:ea typeface="Calibri"/>
                <a:cs typeface="Calibri"/>
                <a:sym typeface="Calibri"/>
              </a:rPr>
              <a:t>DIAGRAMA DE SOFTWARE Y  HARDWARE </a:t>
            </a:r>
            <a:endParaRPr b="0"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544E"/>
              </a:buClr>
              <a:buSzPts val="4400"/>
              <a:buFont typeface="Helvetica Neue"/>
              <a:buNone/>
            </a:pPr>
            <a:r>
              <a:t/>
            </a:r>
            <a:endParaRPr b="1" i="0" sz="3000" u="none" cap="none" strike="noStrike">
              <a:solidFill>
                <a:srgbClr val="3F3F3F"/>
              </a:solidFill>
              <a:latin typeface="Work Sans"/>
              <a:ea typeface="Work Sans"/>
              <a:cs typeface="Work Sans"/>
              <a:sym typeface="Work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g39154aa0d2f_4_0"/>
          <p:cNvSpPr txBox="1"/>
          <p:nvPr>
            <p:ph type="title"/>
          </p:nvPr>
        </p:nvSpPr>
        <p:spPr>
          <a:xfrm>
            <a:off x="104625" y="2"/>
            <a:ext cx="10515600" cy="812700"/>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000000"/>
              </a:buClr>
              <a:buSzPts val="3600"/>
              <a:buFont typeface="Arial"/>
              <a:buNone/>
            </a:pPr>
            <a:r>
              <a:rPr b="1" lang="es-ES">
                <a:solidFill>
                  <a:schemeClr val="lt1"/>
                </a:solidFill>
              </a:rPr>
              <a:t>Objetivos Específicos</a:t>
            </a:r>
            <a:endParaRPr b="0" i="0" sz="1800" u="none" cap="none" strike="noStrike">
              <a:solidFill>
                <a:srgbClr val="000000"/>
              </a:solidFill>
              <a:latin typeface="Arial"/>
              <a:ea typeface="Arial"/>
              <a:cs typeface="Arial"/>
              <a:sym typeface="Arial"/>
            </a:endParaRPr>
          </a:p>
        </p:txBody>
      </p:sp>
      <p:pic>
        <p:nvPicPr>
          <p:cNvPr id="208" name="Google Shape;208;g39154aa0d2f_4_0" title="DIAGRAMA.png"/>
          <p:cNvPicPr preferRelativeResize="0"/>
          <p:nvPr/>
        </p:nvPicPr>
        <p:blipFill rotWithShape="1">
          <a:blip r:embed="rId3">
            <a:alphaModFix/>
          </a:blip>
          <a:srcRect b="0" l="0" r="0" t="0"/>
          <a:stretch/>
        </p:blipFill>
        <p:spPr>
          <a:xfrm>
            <a:off x="0" y="1000"/>
            <a:ext cx="12192000" cy="685800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g39154aa0d2f_0_15"/>
          <p:cNvSpPr txBox="1"/>
          <p:nvPr>
            <p:ph type="title"/>
          </p:nvPr>
        </p:nvSpPr>
        <p:spPr>
          <a:xfrm>
            <a:off x="456236" y="110481"/>
            <a:ext cx="10515600" cy="1325700"/>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000000"/>
              </a:buClr>
              <a:buSzPts val="3600"/>
              <a:buFont typeface="Arial"/>
              <a:buNone/>
            </a:pPr>
            <a:r>
              <a:rPr b="1" lang="es-ES">
                <a:solidFill>
                  <a:schemeClr val="lt1"/>
                </a:solidFill>
              </a:rPr>
              <a:t>Diagrama De Procesos</a:t>
            </a:r>
            <a:endParaRPr b="1">
              <a:solidFill>
                <a:schemeClr val="lt1"/>
              </a:solidFill>
            </a:endParaRPr>
          </a:p>
        </p:txBody>
      </p:sp>
      <p:pic>
        <p:nvPicPr>
          <p:cNvPr id="214" name="Google Shape;214;g39154aa0d2f_0_15" title="Diagrame general (1).drawio.png"/>
          <p:cNvPicPr preferRelativeResize="0"/>
          <p:nvPr/>
        </p:nvPicPr>
        <p:blipFill rotWithShape="1">
          <a:blip r:embed="rId3">
            <a:alphaModFix/>
          </a:blip>
          <a:srcRect b="0" l="0" r="0" t="0"/>
          <a:stretch/>
        </p:blipFill>
        <p:spPr>
          <a:xfrm>
            <a:off x="152400" y="1588575"/>
            <a:ext cx="10726874" cy="511702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g3ad7017439e_0_0"/>
          <p:cNvSpPr txBox="1"/>
          <p:nvPr>
            <p:ph type="title"/>
          </p:nvPr>
        </p:nvSpPr>
        <p:spPr>
          <a:xfrm>
            <a:off x="456236" y="110481"/>
            <a:ext cx="10515600" cy="1325700"/>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000000"/>
              </a:buClr>
              <a:buSzPts val="3600"/>
              <a:buFont typeface="Arial"/>
              <a:buNone/>
            </a:pPr>
            <a:r>
              <a:rPr b="1" lang="es-ES">
                <a:solidFill>
                  <a:schemeClr val="lt1"/>
                </a:solidFill>
              </a:rPr>
              <a:t>Organigrama</a:t>
            </a:r>
            <a:endParaRPr b="1">
              <a:solidFill>
                <a:schemeClr val="lt1"/>
              </a:solidFill>
            </a:endParaRPr>
          </a:p>
        </p:txBody>
      </p:sp>
      <p:graphicFrame>
        <p:nvGraphicFramePr>
          <p:cNvPr id="220" name="Google Shape;220;g3ad7017439e_0_0"/>
          <p:cNvGraphicFramePr/>
          <p:nvPr/>
        </p:nvGraphicFramePr>
        <p:xfrm>
          <a:off x="1642750" y="1758800"/>
          <a:ext cx="3000000" cy="3000000"/>
        </p:xfrm>
        <a:graphic>
          <a:graphicData uri="http://schemas.openxmlformats.org/drawingml/2006/table">
            <a:tbl>
              <a:tblPr>
                <a:noFill/>
                <a:tableStyleId>{69D0FB71-1C29-45FF-A4D8-3420556B600B}</a:tableStyleId>
              </a:tblPr>
              <a:tblGrid>
                <a:gridCol w="4251025"/>
                <a:gridCol w="4251025"/>
              </a:tblGrid>
              <a:tr h="722850">
                <a:tc>
                  <a:txBody>
                    <a:bodyPr/>
                    <a:lstStyle/>
                    <a:p>
                      <a:pPr indent="0" lvl="0" marL="0" marR="0" rtl="0" algn="l">
                        <a:lnSpc>
                          <a:spcPct val="100000"/>
                        </a:lnSpc>
                        <a:spcBef>
                          <a:spcPts val="0"/>
                        </a:spcBef>
                        <a:spcAft>
                          <a:spcPts val="0"/>
                        </a:spcAft>
                        <a:buClr>
                          <a:srgbClr val="000000"/>
                        </a:buClr>
                        <a:buSzPts val="2000"/>
                        <a:buFont typeface="Arial"/>
                        <a:buNone/>
                      </a:pPr>
                      <a:r>
                        <a:rPr lang="es-ES" sz="2000" u="none" cap="none" strike="noStrike"/>
                        <a:t>               módulo funcional</a:t>
                      </a:r>
                      <a:endParaRPr sz="20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2000"/>
                        <a:buFont typeface="Arial"/>
                        <a:buNone/>
                      </a:pPr>
                      <a:r>
                        <a:rPr lang="es-ES" sz="2000" u="none" cap="none" strike="noStrike"/>
                        <a:t>            Nivel jerárquico</a:t>
                      </a:r>
                      <a:endParaRPr sz="2000" u="none" cap="none" strike="noStrike"/>
                    </a:p>
                  </a:txBody>
                  <a:tcPr marT="91425" marB="91425" marR="91425" marL="91425"/>
                </a:tc>
              </a:tr>
              <a:tr h="1347550">
                <a:tc>
                  <a:txBody>
                    <a:bodyPr/>
                    <a:lstStyle/>
                    <a:p>
                      <a:pPr indent="0" lvl="0" marL="0" marR="0" rtl="0" algn="l">
                        <a:lnSpc>
                          <a:spcPct val="100000"/>
                        </a:lnSpc>
                        <a:spcBef>
                          <a:spcPts val="0"/>
                        </a:spcBef>
                        <a:spcAft>
                          <a:spcPts val="0"/>
                        </a:spcAft>
                        <a:buClr>
                          <a:srgbClr val="000000"/>
                        </a:buClr>
                        <a:buSzPts val="2000"/>
                        <a:buFont typeface="Arial"/>
                        <a:buNone/>
                      </a:pPr>
                      <a:r>
                        <a:rPr lang="es-ES" sz="2000" u="none" cap="none" strike="noStrike"/>
                        <a:t>                        Ventas</a:t>
                      </a:r>
                      <a:endParaRPr sz="20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2000"/>
                        <a:buFont typeface="Arial"/>
                        <a:buNone/>
                      </a:pPr>
                      <a:r>
                        <a:rPr lang="es-ES" sz="2000" u="none" cap="none" strike="noStrike"/>
                        <a:t>        coordinador comercial, ejecutivos de ventas,analista de facturacion.</a:t>
                      </a:r>
                      <a:endParaRPr sz="2000" u="none" cap="none" strike="noStrike"/>
                    </a:p>
                    <a:p>
                      <a:pPr indent="0" lvl="0" marL="0" marR="0" rtl="0" algn="ctr">
                        <a:lnSpc>
                          <a:spcPct val="100000"/>
                        </a:lnSpc>
                        <a:spcBef>
                          <a:spcPts val="0"/>
                        </a:spcBef>
                        <a:spcAft>
                          <a:spcPts val="0"/>
                        </a:spcAft>
                        <a:buClr>
                          <a:srgbClr val="000000"/>
                        </a:buClr>
                        <a:buSzPts val="2000"/>
                        <a:buFont typeface="Arial"/>
                        <a:buNone/>
                      </a:pPr>
                      <a:r>
                        <a:t/>
                      </a:r>
                      <a:endParaRPr sz="2000" u="none" cap="none" strike="noStrike"/>
                    </a:p>
                  </a:txBody>
                  <a:tcPr marT="91425" marB="91425" marR="91425" marL="91425"/>
                </a:tc>
              </a:tr>
              <a:tr h="761625">
                <a:tc>
                  <a:txBody>
                    <a:bodyPr/>
                    <a:lstStyle/>
                    <a:p>
                      <a:pPr indent="0" lvl="0" marL="0" marR="0" rtl="0" algn="ctr">
                        <a:lnSpc>
                          <a:spcPct val="100000"/>
                        </a:lnSpc>
                        <a:spcBef>
                          <a:spcPts val="0"/>
                        </a:spcBef>
                        <a:spcAft>
                          <a:spcPts val="0"/>
                        </a:spcAft>
                        <a:buClr>
                          <a:srgbClr val="000000"/>
                        </a:buClr>
                        <a:buSzPts val="2000"/>
                        <a:buFont typeface="Arial"/>
                        <a:buNone/>
                      </a:pPr>
                      <a:r>
                        <a:rPr lang="es-ES" sz="2000" u="none" cap="none" strike="noStrike"/>
                        <a:t>Compras</a:t>
                      </a:r>
                      <a:endParaRPr sz="20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2000"/>
                        <a:buFont typeface="Arial"/>
                        <a:buNone/>
                      </a:pPr>
                      <a:r>
                        <a:rPr lang="es-ES" sz="2000" u="none" cap="none" strike="noStrike"/>
                        <a:t>compradores, analista de proveedores,</a:t>
                      </a:r>
                      <a:endParaRPr sz="2000" u="none" cap="none" strike="noStrike"/>
                    </a:p>
                  </a:txBody>
                  <a:tcPr marT="91425" marB="91425" marR="91425" marL="91425"/>
                </a:tc>
              </a:tr>
              <a:tr h="761625">
                <a:tc>
                  <a:txBody>
                    <a:bodyPr/>
                    <a:lstStyle/>
                    <a:p>
                      <a:pPr indent="0" lvl="0" marL="0" marR="0" rtl="0" algn="ctr">
                        <a:lnSpc>
                          <a:spcPct val="100000"/>
                        </a:lnSpc>
                        <a:spcBef>
                          <a:spcPts val="0"/>
                        </a:spcBef>
                        <a:spcAft>
                          <a:spcPts val="0"/>
                        </a:spcAft>
                        <a:buClr>
                          <a:srgbClr val="000000"/>
                        </a:buClr>
                        <a:buSzPts val="2000"/>
                        <a:buFont typeface="Arial"/>
                        <a:buNone/>
                      </a:pPr>
                      <a:r>
                        <a:rPr lang="es-ES" sz="2000" u="none" cap="none" strike="noStrike"/>
                        <a:t>Inventario</a:t>
                      </a:r>
                      <a:endParaRPr sz="20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2000"/>
                        <a:buFont typeface="Arial"/>
                        <a:buNone/>
                      </a:pPr>
                      <a:r>
                        <a:rPr lang="es-ES" sz="2000" u="none" cap="none" strike="noStrike"/>
                        <a:t>Encargado de almacén, Auxiliar de inventario.</a:t>
                      </a:r>
                      <a:endParaRPr sz="2000" u="none" cap="none" strike="noStrike"/>
                    </a:p>
                  </a:txBody>
                  <a:tcPr marT="91425" marB="91425" marR="91425" marL="91425"/>
                </a:tc>
              </a:tr>
              <a:tr h="1054600">
                <a:tc>
                  <a:txBody>
                    <a:bodyPr/>
                    <a:lstStyle/>
                    <a:p>
                      <a:pPr indent="0" lvl="0" marL="0" marR="0" rtl="0" algn="ctr">
                        <a:lnSpc>
                          <a:spcPct val="100000"/>
                        </a:lnSpc>
                        <a:spcBef>
                          <a:spcPts val="0"/>
                        </a:spcBef>
                        <a:spcAft>
                          <a:spcPts val="0"/>
                        </a:spcAft>
                        <a:buClr>
                          <a:srgbClr val="000000"/>
                        </a:buClr>
                        <a:buSzPts val="2000"/>
                        <a:buFont typeface="Arial"/>
                        <a:buNone/>
                      </a:pPr>
                      <a:r>
                        <a:rPr lang="es-ES" sz="2000" u="none" cap="none" strike="noStrike"/>
                        <a:t>Soporte</a:t>
                      </a:r>
                      <a:endParaRPr sz="20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2000"/>
                        <a:buFont typeface="Arial"/>
                        <a:buNone/>
                      </a:pPr>
                      <a:r>
                        <a:rPr lang="es-ES" sz="2000" u="none" cap="none" strike="noStrike"/>
                        <a:t>coordinador de mesa de ayuda, tecnicos de soporte, agentes de servicio al cliente.</a:t>
                      </a:r>
                      <a:endParaRPr sz="2000" u="none" cap="none" strike="noStrike"/>
                    </a:p>
                  </a:txBody>
                  <a:tcPr marT="91425" marB="91425" marR="91425" marL="91425"/>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g39154aa0d2f_5_0"/>
          <p:cNvSpPr txBox="1"/>
          <p:nvPr>
            <p:ph type="title"/>
          </p:nvPr>
        </p:nvSpPr>
        <p:spPr>
          <a:xfrm>
            <a:off x="456236" y="110481"/>
            <a:ext cx="10515600" cy="1325700"/>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000000"/>
              </a:buClr>
              <a:buSzPts val="3600"/>
              <a:buFont typeface="Arial"/>
              <a:buNone/>
            </a:pPr>
            <a:r>
              <a:rPr b="1" lang="es-ES">
                <a:solidFill>
                  <a:schemeClr val="lt1"/>
                </a:solidFill>
              </a:rPr>
              <a:t>Conclusión</a:t>
            </a:r>
            <a:endParaRPr b="1">
              <a:solidFill>
                <a:schemeClr val="lt1"/>
              </a:solidFill>
            </a:endParaRPr>
          </a:p>
        </p:txBody>
      </p:sp>
      <p:sp>
        <p:nvSpPr>
          <p:cNvPr id="226" name="Google Shape;226;g39154aa0d2f_5_0"/>
          <p:cNvSpPr txBox="1"/>
          <p:nvPr/>
        </p:nvSpPr>
        <p:spPr>
          <a:xfrm>
            <a:off x="416350" y="1596100"/>
            <a:ext cx="11589000" cy="518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0" i="0" lang="es-ES" sz="1900" u="none" cap="none" strike="noStrike">
                <a:solidFill>
                  <a:schemeClr val="dk1"/>
                </a:solidFill>
                <a:latin typeface="Arial"/>
                <a:ea typeface="Arial"/>
                <a:cs typeface="Arial"/>
                <a:sym typeface="Arial"/>
              </a:rPr>
              <a:t>"Nuestro estudio de tatuajes no solo es un centro de excelencia artística, sino una plataforma de servicio y seguridad robusta. Nuestra propuesta de valor se cimienta en tres pilares fundamentales que garantizan una experiencia inigualable:</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ES" sz="1900" u="none" cap="none" strike="noStrike">
                <a:solidFill>
                  <a:schemeClr val="dk1"/>
                </a:solidFill>
                <a:latin typeface="Arial"/>
                <a:ea typeface="Arial"/>
                <a:cs typeface="Arial"/>
                <a:sym typeface="Arial"/>
              </a:rPr>
              <a:t> </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ES" sz="1900" u="none" cap="none" strike="noStrike">
                <a:solidFill>
                  <a:schemeClr val="dk1"/>
                </a:solidFill>
                <a:latin typeface="Arial"/>
                <a:ea typeface="Arial"/>
                <a:cs typeface="Arial"/>
                <a:sym typeface="Arial"/>
              </a:rPr>
              <a:t>*Entendemos que la privacidad es la base de la confianza. Por ello, empleamos protocolos de ciberseguridad de última generación para asegurar la información de nuestros clientes y trabajadores, blindando todas las cuentas y bases de datos contra cualquier intento de hackeo. Cuando eliges nuestros servicios, tienes la garantía de un santuario digital donde tu enfoque es el arte, y nuestra prioridad es tu seguridad.</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900"/>
              <a:buFont typeface="Arial"/>
              <a:buNone/>
            </a:pPr>
            <a:r>
              <a:rPr b="0" i="0" lang="es-ES" sz="1900" u="none" cap="none" strike="noStrike">
                <a:solidFill>
                  <a:schemeClr val="dk1"/>
                </a:solidFill>
                <a:latin typeface="Arial"/>
                <a:ea typeface="Arial"/>
                <a:cs typeface="Arial"/>
                <a:sym typeface="Arial"/>
              </a:rPr>
              <a:t>* En nuestro estudio, la confianza (seguridad digital y consistencia de materiales) se une a la comodidad (web intuitiva y arte actualizado). Nos enfocamos en hacer que tu experiencia de tatuaje sea segura, sencilla y memorable, con un equipo que trabaja para ti."</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pic>
        <p:nvPicPr>
          <p:cNvPr descr="Imagen que contiene Interfaz de usuario gráfica&#10;&#10;Descripción generada automáticamente" id="231" name="Google Shape;231;p19"/>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g39154aa0d2f_4_6"/>
          <p:cNvSpPr txBox="1"/>
          <p:nvPr>
            <p:ph type="title"/>
          </p:nvPr>
        </p:nvSpPr>
        <p:spPr>
          <a:xfrm>
            <a:off x="456236" y="110481"/>
            <a:ext cx="10515600" cy="1325700"/>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000000"/>
              </a:buClr>
              <a:buSzPts val="3600"/>
              <a:buFont typeface="Arial"/>
              <a:buNone/>
            </a:pPr>
            <a:r>
              <a:rPr b="1" lang="es-ES">
                <a:solidFill>
                  <a:schemeClr val="lt1"/>
                </a:solidFill>
              </a:rPr>
              <a:t>Nose</a:t>
            </a:r>
            <a:endParaRPr b="0" i="0" sz="1800" u="none" cap="none" strike="noStrike">
              <a:solidFill>
                <a:srgbClr val="000000"/>
              </a:solidFill>
              <a:latin typeface="Arial"/>
              <a:ea typeface="Arial"/>
              <a:cs typeface="Arial"/>
              <a:sym typeface="Arial"/>
            </a:endParaRPr>
          </a:p>
        </p:txBody>
      </p:sp>
      <p:graphicFrame>
        <p:nvGraphicFramePr>
          <p:cNvPr id="237" name="Google Shape;237;g39154aa0d2f_4_6"/>
          <p:cNvGraphicFramePr/>
          <p:nvPr/>
        </p:nvGraphicFramePr>
        <p:xfrm>
          <a:off x="918750" y="1592955"/>
          <a:ext cx="3000000" cy="3000000"/>
        </p:xfrm>
        <a:graphic>
          <a:graphicData uri="http://schemas.openxmlformats.org/drawingml/2006/table">
            <a:tbl>
              <a:tblPr bandRow="1" firstRow="1">
                <a:noFill/>
                <a:tableStyleId>{FE5F24F0-0950-4391-87F5-8929D5B5EEAF}</a:tableStyleId>
              </a:tblPr>
              <a:tblGrid>
                <a:gridCol w="1647850"/>
                <a:gridCol w="8706650"/>
              </a:tblGrid>
              <a:tr h="450400">
                <a:tc>
                  <a:txBody>
                    <a:bodyPr/>
                    <a:lstStyle/>
                    <a:p>
                      <a:pPr indent="0" lvl="0" marL="0" marR="0" rtl="0" algn="l">
                        <a:lnSpc>
                          <a:spcPct val="100000"/>
                        </a:lnSpc>
                        <a:spcBef>
                          <a:spcPts val="0"/>
                        </a:spcBef>
                        <a:spcAft>
                          <a:spcPts val="0"/>
                        </a:spcAft>
                        <a:buClr>
                          <a:srgbClr val="000000"/>
                        </a:buClr>
                        <a:buSzPts val="2000"/>
                        <a:buFont typeface="Arial"/>
                        <a:buNone/>
                      </a:pPr>
                      <a:r>
                        <a:rPr lang="es-ES" sz="2000" u="none" cap="none" strike="noStrike"/>
                        <a:t>//////////////////</a:t>
                      </a:r>
                      <a:endParaRPr sz="20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2000"/>
                        <a:buFont typeface="Arial"/>
                        <a:buNone/>
                      </a:pPr>
                      <a:r>
                        <a:rPr lang="es-ES" sz="2000" u="none" cap="none" strike="noStrike"/>
                        <a:t>DESCRIPCIÓN</a:t>
                      </a:r>
                      <a:endParaRPr sz="2000" u="none" cap="none" strike="noStrike"/>
                    </a:p>
                  </a:txBody>
                  <a:tcPr marT="45725" marB="45725" marR="91450" marL="91450"/>
                </a:tc>
              </a:tr>
              <a:tr h="1316600">
                <a:tc>
                  <a:txBody>
                    <a:bodyPr/>
                    <a:lstStyle/>
                    <a:p>
                      <a:pPr indent="0" lvl="0" marL="0" marR="0" rtl="0" algn="l">
                        <a:lnSpc>
                          <a:spcPct val="100000"/>
                        </a:lnSpc>
                        <a:spcBef>
                          <a:spcPts val="0"/>
                        </a:spcBef>
                        <a:spcAft>
                          <a:spcPts val="0"/>
                        </a:spcAft>
                        <a:buClr>
                          <a:srgbClr val="000000"/>
                        </a:buClr>
                        <a:buSzPts val="1400"/>
                        <a:buFont typeface="Arial"/>
                        <a:buNone/>
                      </a:pPr>
                      <a:r>
                        <a:rPr lang="es-ES" sz="1400" u="none" cap="none" strike="noStrike"/>
                        <a:t>Tecnologias recomendadas</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100"/>
                        <a:buFont typeface="Arial"/>
                        <a:buNone/>
                      </a:pPr>
                      <a:r>
                        <a:rPr lang="es-ES" sz="1400" u="none" cap="none" strike="noStrike"/>
                        <a:t>HP All‑in‑One 23.8″ PC $1.799.000 COP</a:t>
                      </a:r>
                      <a:endParaRPr sz="1400" u="none" cap="none" strike="noStrike"/>
                    </a:p>
                    <a:p>
                      <a:pPr indent="0" lvl="0" marL="0" marR="0" rtl="0" algn="l">
                        <a:lnSpc>
                          <a:spcPct val="100000"/>
                        </a:lnSpc>
                        <a:spcBef>
                          <a:spcPts val="0"/>
                        </a:spcBef>
                        <a:spcAft>
                          <a:spcPts val="0"/>
                        </a:spcAft>
                        <a:buClr>
                          <a:schemeClr val="dk1"/>
                        </a:buClr>
                        <a:buSzPts val="1100"/>
                        <a:buFont typeface="Arial"/>
                        <a:buNone/>
                      </a:pPr>
                      <a:r>
                        <a:rPr lang="es-ES" sz="1400" u="none" cap="none" strike="noStrike"/>
                        <a:t>Torre PC Ryzen 5 5600G + SSD 512 GB + Monitor 24  $2.463.100 COP</a:t>
                      </a:r>
                      <a:endParaRPr sz="1400" u="none" cap="none" strike="noStrike"/>
                    </a:p>
                    <a:p>
                      <a:pPr indent="0" lvl="0" marL="0" marR="0" rtl="0" algn="l">
                        <a:lnSpc>
                          <a:spcPct val="140000"/>
                        </a:lnSpc>
                        <a:spcBef>
                          <a:spcPts val="0"/>
                        </a:spcBef>
                        <a:spcAft>
                          <a:spcPts val="0"/>
                        </a:spcAft>
                        <a:buClr>
                          <a:schemeClr val="dk1"/>
                        </a:buClr>
                        <a:buSzPts val="1100"/>
                        <a:buFont typeface="Arial"/>
                        <a:buNone/>
                      </a:pPr>
                      <a:r>
                        <a:rPr lang="es-ES" sz="1500" u="none" cap="none" strike="noStrike">
                          <a:solidFill>
                            <a:srgbClr val="231F20"/>
                          </a:solidFill>
                        </a:rPr>
                        <a:t>Mouse Ergonomico Vertical Inalambrico 2.4G Recargable Usb $47.800 COP</a:t>
                      </a:r>
                      <a:endParaRPr sz="1400" u="none" cap="none" strike="noStrike"/>
                    </a:p>
                    <a:p>
                      <a:pPr indent="0" lvl="0" marL="0" marR="0" rtl="0" algn="l">
                        <a:lnSpc>
                          <a:spcPct val="100000"/>
                        </a:lnSpc>
                        <a:spcBef>
                          <a:spcPts val="300"/>
                        </a:spcBef>
                        <a:spcAft>
                          <a:spcPts val="0"/>
                        </a:spcAft>
                        <a:buClr>
                          <a:schemeClr val="dk1"/>
                        </a:buClr>
                        <a:buSzPts val="1100"/>
                        <a:buFont typeface="Arial"/>
                        <a:buNone/>
                      </a:pPr>
                      <a:r>
                        <a:t/>
                      </a:r>
                      <a:endParaRPr sz="1400" u="none" cap="none" strike="noStrike"/>
                    </a:p>
                  </a:txBody>
                  <a:tcPr marT="45725" marB="45725" marR="91450" marL="91450"/>
                </a:tc>
              </a:tr>
              <a:tr h="937550">
                <a:tc>
                  <a:txBody>
                    <a:bodyPr/>
                    <a:lstStyle/>
                    <a:p>
                      <a:pPr indent="0" lvl="0" marL="0" marR="0" rtl="0" algn="l">
                        <a:lnSpc>
                          <a:spcPct val="100000"/>
                        </a:lnSpc>
                        <a:spcBef>
                          <a:spcPts val="0"/>
                        </a:spcBef>
                        <a:spcAft>
                          <a:spcPts val="0"/>
                        </a:spcAft>
                        <a:buClr>
                          <a:schemeClr val="dk1"/>
                        </a:buClr>
                        <a:buSzPts val="1400"/>
                        <a:buFont typeface="Arial"/>
                        <a:buNone/>
                      </a:pPr>
                      <a:r>
                        <a:rPr lang="es-ES" sz="1400" u="none" cap="none" strike="noStrike"/>
                        <a:t>Front end</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s-ES" sz="1400" u="none" cap="none" strike="noStrike"/>
                        <a:t>(landing + info + contacto / formulario) $3.765.000- $11.292.000</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lang="es-ES" sz="1400" u="none" cap="none" strike="noStrike"/>
                        <a:t>(catálogo, galería, formulario de citas, responsive, diseño personalizado) $11.292.000- $26.350.000</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lang="es-ES" sz="1400" u="none" cap="none" strike="noStrike"/>
                        <a:t>(SPA, animaciones, integración con backend, reservas, panel de cliente, etc.) $26.350.000- $56.460.000+</a:t>
                      </a:r>
                      <a:endParaRPr sz="1400" u="none" cap="none" strike="noStrike"/>
                    </a:p>
                  </a:txBody>
                  <a:tcPr marT="45725" marB="45725" marR="91450" marL="91450"/>
                </a:tc>
              </a:tr>
              <a:tr h="1074075">
                <a:tc>
                  <a:txBody>
                    <a:bodyPr/>
                    <a:lstStyle/>
                    <a:p>
                      <a:pPr indent="0" lvl="0" marL="0" marR="0" rtl="0" algn="l">
                        <a:lnSpc>
                          <a:spcPct val="100000"/>
                        </a:lnSpc>
                        <a:spcBef>
                          <a:spcPts val="0"/>
                        </a:spcBef>
                        <a:spcAft>
                          <a:spcPts val="0"/>
                        </a:spcAft>
                        <a:buClr>
                          <a:srgbClr val="000000"/>
                        </a:buClr>
                        <a:buSzPts val="1400"/>
                        <a:buFont typeface="Arial"/>
                        <a:buNone/>
                      </a:pPr>
                      <a:r>
                        <a:rPr lang="es-ES" sz="1400" u="none" cap="none" strike="noStrike"/>
                        <a:t>Backend</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s-ES" sz="1400" u="none" cap="none" strike="noStrike"/>
                        <a:t>Lenguaje backend: Python 3.12. Framework backend: Flask o Django, ambos gratuitos.</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lang="es-ES" sz="1400" u="none" cap="none" strike="noStrike"/>
                        <a:t> Lenguajes para la interfaz gráfica del sistema: HTML5, CSS3 y JavaScript.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lang="es-ES" sz="1400" u="none" cap="none" strike="noStrike"/>
                        <a:t>Framework de estilos opcional: Bootstrap. Control de versiones con Git y repositorio en GitHub.</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lang="es-ES" sz="1400" u="none" cap="none" strike="noStrike"/>
                        <a:t>ninguna requiere pago de licencias</a:t>
                      </a:r>
                      <a:endParaRPr sz="1400" u="none" cap="none" strike="noStrike"/>
                    </a:p>
                  </a:txBody>
                  <a:tcPr marT="45725" marB="45725" marR="91450" marL="91450"/>
                </a:tc>
              </a:tr>
              <a:tr h="1094000">
                <a:tc>
                  <a:txBody>
                    <a:bodyPr/>
                    <a:lstStyle/>
                    <a:p>
                      <a:pPr indent="0" lvl="0" marL="0" marR="0" rtl="0" algn="l">
                        <a:lnSpc>
                          <a:spcPct val="100000"/>
                        </a:lnSpc>
                        <a:spcBef>
                          <a:spcPts val="0"/>
                        </a:spcBef>
                        <a:spcAft>
                          <a:spcPts val="0"/>
                        </a:spcAft>
                        <a:buClr>
                          <a:srgbClr val="000000"/>
                        </a:buClr>
                        <a:buSzPts val="1400"/>
                        <a:buFont typeface="Arial"/>
                        <a:buNone/>
                      </a:pPr>
                      <a:r>
                        <a:rPr lang="es-ES" sz="1400" u="none" cap="none" strike="noStrike"/>
                        <a:t>Base de datos</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s-ES" sz="1400" u="none" cap="none" strike="noStrike"/>
                        <a:t>MySQL, Licencia: GPL (gratuita y de código abierto)</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lang="es-ES" sz="1400" u="none" cap="none" strike="noStrike"/>
                        <a:t>- Permisos: Requiere permisos de administrador para instalación y configuración</a:t>
                      </a:r>
                      <a:endParaRPr sz="1400" u="none" cap="none" strike="noStrike"/>
                    </a:p>
                  </a:txBody>
                  <a:tcPr marT="45725" marB="45725" marR="91450" marL="91450"/>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g39154aa0d2f_4_29"/>
          <p:cNvSpPr txBox="1"/>
          <p:nvPr>
            <p:ph type="title"/>
          </p:nvPr>
        </p:nvSpPr>
        <p:spPr>
          <a:xfrm>
            <a:off x="456236" y="110481"/>
            <a:ext cx="10515600" cy="1325700"/>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000000"/>
              </a:buClr>
              <a:buSzPts val="3600"/>
              <a:buFont typeface="Arial"/>
              <a:buNone/>
            </a:pPr>
            <a:r>
              <a:rPr b="1" lang="es-ES">
                <a:solidFill>
                  <a:schemeClr val="lt1"/>
                </a:solidFill>
              </a:rPr>
              <a:t>Nose</a:t>
            </a:r>
            <a:endParaRPr b="0" i="0" sz="1800" u="none" cap="none" strike="noStrike">
              <a:solidFill>
                <a:srgbClr val="000000"/>
              </a:solidFill>
              <a:latin typeface="Arial"/>
              <a:ea typeface="Arial"/>
              <a:cs typeface="Arial"/>
              <a:sym typeface="Arial"/>
            </a:endParaRPr>
          </a:p>
        </p:txBody>
      </p:sp>
      <p:graphicFrame>
        <p:nvGraphicFramePr>
          <p:cNvPr id="243" name="Google Shape;243;g39154aa0d2f_4_29"/>
          <p:cNvGraphicFramePr/>
          <p:nvPr/>
        </p:nvGraphicFramePr>
        <p:xfrm>
          <a:off x="918750" y="1592955"/>
          <a:ext cx="3000000" cy="3000000"/>
        </p:xfrm>
        <a:graphic>
          <a:graphicData uri="http://schemas.openxmlformats.org/drawingml/2006/table">
            <a:tbl>
              <a:tblPr bandRow="1" firstRow="1">
                <a:noFill/>
                <a:tableStyleId>{FE5F24F0-0950-4391-87F5-8929D5B5EEAF}</a:tableStyleId>
              </a:tblPr>
              <a:tblGrid>
                <a:gridCol w="1647850"/>
                <a:gridCol w="8706650"/>
              </a:tblGrid>
              <a:tr h="450400">
                <a:tc>
                  <a:txBody>
                    <a:bodyPr/>
                    <a:lstStyle/>
                    <a:p>
                      <a:pPr indent="0" lvl="0" marL="0" marR="0" rtl="0" algn="l">
                        <a:lnSpc>
                          <a:spcPct val="100000"/>
                        </a:lnSpc>
                        <a:spcBef>
                          <a:spcPts val="0"/>
                        </a:spcBef>
                        <a:spcAft>
                          <a:spcPts val="0"/>
                        </a:spcAft>
                        <a:buClr>
                          <a:srgbClr val="000000"/>
                        </a:buClr>
                        <a:buSzPts val="2000"/>
                        <a:buFont typeface="Arial"/>
                        <a:buNone/>
                      </a:pPr>
                      <a:r>
                        <a:rPr lang="es-ES" sz="2000" u="none" cap="none" strike="noStrike"/>
                        <a:t>//////////////////</a:t>
                      </a:r>
                      <a:endParaRPr sz="20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2000"/>
                        <a:buFont typeface="Arial"/>
                        <a:buNone/>
                      </a:pPr>
                      <a:r>
                        <a:rPr lang="es-ES" sz="2000" u="none" cap="none" strike="noStrike"/>
                        <a:t>DESCRIPCIÓN</a:t>
                      </a:r>
                      <a:endParaRPr sz="2000" u="none" cap="none" strike="noStrike"/>
                    </a:p>
                  </a:txBody>
                  <a:tcPr marT="45725" marB="45725" marR="91450" marL="91450"/>
                </a:tc>
              </a:tr>
              <a:tr h="1316600">
                <a:tc>
                  <a:txBody>
                    <a:bodyPr/>
                    <a:lstStyle/>
                    <a:p>
                      <a:pPr indent="0" lvl="0" marL="0" marR="0" rtl="0" algn="l">
                        <a:lnSpc>
                          <a:spcPct val="100000"/>
                        </a:lnSpc>
                        <a:spcBef>
                          <a:spcPts val="0"/>
                        </a:spcBef>
                        <a:spcAft>
                          <a:spcPts val="0"/>
                        </a:spcAft>
                        <a:buClr>
                          <a:srgbClr val="000000"/>
                        </a:buClr>
                        <a:buSzPts val="1400"/>
                        <a:buFont typeface="Arial"/>
                        <a:buNone/>
                      </a:pPr>
                      <a:r>
                        <a:rPr lang="es-ES" sz="1400" u="none" cap="none" strike="noStrike"/>
                        <a:t>Infraestructura</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100"/>
                        <a:buFont typeface="Arial"/>
                        <a:buNone/>
                      </a:pPr>
                      <a:r>
                        <a:rPr lang="es-ES" sz="1400" u="none" cap="none" strike="noStrike"/>
                        <a:t>Hosting web para el sistema y la página (puede ser compartido o en la nube).</a:t>
                      </a:r>
                      <a:endParaRPr sz="1400" u="none" cap="none" strike="noStrike"/>
                    </a:p>
                    <a:p>
                      <a:pPr indent="0" lvl="0" marL="0" marR="0" rtl="0" algn="l">
                        <a:lnSpc>
                          <a:spcPct val="100000"/>
                        </a:lnSpc>
                        <a:spcBef>
                          <a:spcPts val="0"/>
                        </a:spcBef>
                        <a:spcAft>
                          <a:spcPts val="0"/>
                        </a:spcAft>
                        <a:buClr>
                          <a:schemeClr val="dk1"/>
                        </a:buClr>
                        <a:buSzPts val="1100"/>
                        <a:buFont typeface="Arial"/>
                        <a:buNone/>
                      </a:pPr>
                      <a:r>
                        <a:rPr lang="es-ES" sz="1400" u="none" cap="none" strike="noStrike"/>
                        <a:t>Dominio con certificado SSL para navegación segura (HTTPS).</a:t>
                      </a:r>
                      <a:endParaRPr sz="1400" u="none" cap="none" strike="noStrike"/>
                    </a:p>
                    <a:p>
                      <a:pPr indent="0" lvl="0" marL="0" marR="0" rtl="0" algn="l">
                        <a:lnSpc>
                          <a:spcPct val="100000"/>
                        </a:lnSpc>
                        <a:spcBef>
                          <a:spcPts val="0"/>
                        </a:spcBef>
                        <a:spcAft>
                          <a:spcPts val="0"/>
                        </a:spcAft>
                        <a:buClr>
                          <a:schemeClr val="dk1"/>
                        </a:buClr>
                        <a:buSzPts val="1100"/>
                        <a:buFont typeface="Arial"/>
                        <a:buNone/>
                      </a:pPr>
                      <a:r>
                        <a:rPr lang="es-ES" sz="1400" u="none" cap="none" strike="noStrike"/>
                        <a:t>Servidor de base de datos (local o en la nube).</a:t>
                      </a:r>
                      <a:endParaRPr sz="1400" u="none" cap="none" strike="noStrike"/>
                    </a:p>
                    <a:p>
                      <a:pPr indent="0" lvl="0" marL="0" marR="0" rtl="0" algn="l">
                        <a:lnSpc>
                          <a:spcPct val="100000"/>
                        </a:lnSpc>
                        <a:spcBef>
                          <a:spcPts val="0"/>
                        </a:spcBef>
                        <a:spcAft>
                          <a:spcPts val="0"/>
                        </a:spcAft>
                        <a:buClr>
                          <a:schemeClr val="dk1"/>
                        </a:buClr>
                        <a:buSzPts val="1100"/>
                        <a:buFont typeface="Arial"/>
                        <a:buNone/>
                      </a:pPr>
                      <a:r>
                        <a:rPr lang="es-ES" sz="1400" u="none" cap="none" strike="noStrike"/>
                        <a:t>Equipo de cómputo para personal (PCs o laptops).</a:t>
                      </a:r>
                      <a:endParaRPr sz="1400" u="none" cap="none" strike="noStrike"/>
                    </a:p>
                    <a:p>
                      <a:pPr indent="0" lvl="0" marL="0" marR="0" rtl="0" algn="l">
                        <a:lnSpc>
                          <a:spcPct val="100000"/>
                        </a:lnSpc>
                        <a:spcBef>
                          <a:spcPts val="0"/>
                        </a:spcBef>
                        <a:spcAft>
                          <a:spcPts val="0"/>
                        </a:spcAft>
                        <a:buClr>
                          <a:schemeClr val="dk1"/>
                        </a:buClr>
                        <a:buSzPts val="1100"/>
                        <a:buFont typeface="Arial"/>
                        <a:buNone/>
                      </a:pPr>
                      <a:r>
                        <a:rPr lang="es-ES" sz="1400" u="none" cap="none" strike="noStrike"/>
                        <a:t>Conexión a internet estable para trabajar.</a:t>
                      </a:r>
                      <a:endParaRPr sz="1400" u="none" cap="none" strike="noStrike"/>
                    </a:p>
                    <a:p>
                      <a:pPr indent="0" lvl="0" marL="0" marR="0" rtl="0" algn="l">
                        <a:lnSpc>
                          <a:spcPct val="100000"/>
                        </a:lnSpc>
                        <a:spcBef>
                          <a:spcPts val="0"/>
                        </a:spcBef>
                        <a:spcAft>
                          <a:spcPts val="0"/>
                        </a:spcAft>
                        <a:buClr>
                          <a:schemeClr val="dk1"/>
                        </a:buClr>
                        <a:buSzPts val="1100"/>
                        <a:buFont typeface="Arial"/>
                        <a:buNone/>
                      </a:pPr>
                      <a:r>
                        <a:rPr lang="es-ES" sz="1400" u="none" cap="none" strike="noStrike"/>
                        <a:t>Sistema de respaldo (copias de seguridad automáticas o en la nube).</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lang="es-ES" sz="1400" u="none" cap="none" strike="noStrike"/>
                        <a:t>Espacio de almacenamiento en servidor para registros, imágenes, diseños, facturas y datos de clientes.</a:t>
                      </a:r>
                      <a:endParaRPr sz="1400" u="none" cap="none" strike="noStrike"/>
                    </a:p>
                  </a:txBody>
                  <a:tcPr marT="45725" marB="45725" marR="91450" marL="91450"/>
                </a:tc>
              </a:tr>
              <a:tr h="937550">
                <a:tc>
                  <a:txBody>
                    <a:bodyPr/>
                    <a:lstStyle/>
                    <a:p>
                      <a:pPr indent="0" lvl="0" marL="0" marR="0" rtl="0" algn="l">
                        <a:lnSpc>
                          <a:spcPct val="100000"/>
                        </a:lnSpc>
                        <a:spcBef>
                          <a:spcPts val="0"/>
                        </a:spcBef>
                        <a:spcAft>
                          <a:spcPts val="0"/>
                        </a:spcAft>
                        <a:buClr>
                          <a:schemeClr val="dk1"/>
                        </a:buClr>
                        <a:buSzPts val="1400"/>
                        <a:buFont typeface="Arial"/>
                        <a:buNone/>
                      </a:pPr>
                      <a:r>
                        <a:rPr lang="es-ES" sz="1400" u="none" cap="none" strike="noStrike"/>
                        <a:t>Integraciones Externas</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100"/>
                        <a:buFont typeface="Arial"/>
                        <a:buNone/>
                      </a:pPr>
                      <a:r>
                        <a:rPr lang="es-ES" sz="1400" u="none" cap="none" strike="noStrike"/>
                        <a:t>Pasarelas de pago (Ej: PayPal, MercadoPago, Nequi, tarjeta débito/crédito).</a:t>
                      </a:r>
                      <a:endParaRPr sz="1400" u="none" cap="none" strike="noStrike"/>
                    </a:p>
                    <a:p>
                      <a:pPr indent="0" lvl="0" marL="0" marR="0" rtl="0" algn="l">
                        <a:lnSpc>
                          <a:spcPct val="100000"/>
                        </a:lnSpc>
                        <a:spcBef>
                          <a:spcPts val="0"/>
                        </a:spcBef>
                        <a:spcAft>
                          <a:spcPts val="0"/>
                        </a:spcAft>
                        <a:buClr>
                          <a:schemeClr val="dk1"/>
                        </a:buClr>
                        <a:buSzPts val="1100"/>
                        <a:buFont typeface="Arial"/>
                        <a:buNone/>
                      </a:pPr>
                      <a:r>
                        <a:rPr lang="es-ES" sz="1400" u="none" cap="none" strike="noStrike"/>
                        <a:t>Integración con redes sociales para ventas (Instagram Shopping / Facebook Shop).</a:t>
                      </a:r>
                      <a:endParaRPr sz="1400" u="none" cap="none" strike="noStrike"/>
                    </a:p>
                    <a:p>
                      <a:pPr indent="0" lvl="0" marL="0" marR="0" rtl="0" algn="l">
                        <a:lnSpc>
                          <a:spcPct val="100000"/>
                        </a:lnSpc>
                        <a:spcBef>
                          <a:spcPts val="0"/>
                        </a:spcBef>
                        <a:spcAft>
                          <a:spcPts val="0"/>
                        </a:spcAft>
                        <a:buClr>
                          <a:schemeClr val="dk1"/>
                        </a:buClr>
                        <a:buSzPts val="1100"/>
                        <a:buFont typeface="Arial"/>
                        <a:buNone/>
                      </a:pPr>
                      <a:r>
                        <a:rPr lang="es-ES" sz="1400" u="none" cap="none" strike="noStrike"/>
                        <a:t>API de WhatsApp Business para comunicación y confirmación de citas.</a:t>
                      </a:r>
                      <a:endParaRPr sz="1400" u="none" cap="none" strike="noStrike"/>
                    </a:p>
                    <a:p>
                      <a:pPr indent="0" lvl="0" marL="0" marR="0" rtl="0" algn="l">
                        <a:lnSpc>
                          <a:spcPct val="100000"/>
                        </a:lnSpc>
                        <a:spcBef>
                          <a:spcPts val="0"/>
                        </a:spcBef>
                        <a:spcAft>
                          <a:spcPts val="0"/>
                        </a:spcAft>
                        <a:buClr>
                          <a:schemeClr val="dk1"/>
                        </a:buClr>
                        <a:buSzPts val="1100"/>
                        <a:buFont typeface="Arial"/>
                        <a:buNone/>
                      </a:pPr>
                      <a:r>
                        <a:rPr lang="es-ES" sz="1400" u="none" cap="none" strike="noStrike"/>
                        <a:t>Integración con Google Calendar para agendar tatuajes y servicios.</a:t>
                      </a:r>
                      <a:endParaRPr sz="1400" u="none" cap="none" strike="noStrike"/>
                    </a:p>
                    <a:p>
                      <a:pPr indent="0" lvl="0" marL="0" marR="0" rtl="0" algn="l">
                        <a:lnSpc>
                          <a:spcPct val="100000"/>
                        </a:lnSpc>
                        <a:spcBef>
                          <a:spcPts val="0"/>
                        </a:spcBef>
                        <a:spcAft>
                          <a:spcPts val="0"/>
                        </a:spcAft>
                        <a:buClr>
                          <a:schemeClr val="dk1"/>
                        </a:buClr>
                        <a:buSzPts val="1100"/>
                        <a:buFont typeface="Arial"/>
                        <a:buNone/>
                      </a:pPr>
                      <a:r>
                        <a:rPr lang="es-ES" sz="1400" u="none" cap="none" strike="noStrike"/>
                        <a:t>Plataforma de facturación electrónica si aplica (DIAN – Colombia).</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lang="es-ES" sz="1400" u="none" cap="none" strike="noStrike"/>
                        <a:t>Integración con servicios de almacenamiento de imágenes (Ej: Firebase Storage, Cloudinary).</a:t>
                      </a:r>
                      <a:endParaRPr sz="1400" u="none" cap="none" strike="noStrike"/>
                    </a:p>
                  </a:txBody>
                  <a:tcPr marT="45725" marB="45725" marR="91450" marL="91450"/>
                </a:tc>
              </a:tr>
              <a:tr h="1074075">
                <a:tc>
                  <a:txBody>
                    <a:bodyPr/>
                    <a:lstStyle/>
                    <a:p>
                      <a:pPr indent="0" lvl="0" marL="0" marR="0" rtl="0" algn="l">
                        <a:lnSpc>
                          <a:spcPct val="100000"/>
                        </a:lnSpc>
                        <a:spcBef>
                          <a:spcPts val="0"/>
                        </a:spcBef>
                        <a:spcAft>
                          <a:spcPts val="0"/>
                        </a:spcAft>
                        <a:buClr>
                          <a:srgbClr val="000000"/>
                        </a:buClr>
                        <a:buSzPts val="1400"/>
                        <a:buFont typeface="Arial"/>
                        <a:buNone/>
                      </a:pPr>
                      <a:r>
                        <a:rPr lang="es-ES" sz="1400" u="none" cap="none" strike="noStrike"/>
                        <a:t>Requerimiento de seguridad</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100"/>
                        <a:buFont typeface="Arial"/>
                        <a:buNone/>
                      </a:pPr>
                      <a:r>
                        <a:rPr lang="es-ES" sz="1400" u="none" cap="none" strike="noStrike"/>
                        <a:t>Certificado SSL vigente para toda la tienda y panel administrativo.</a:t>
                      </a:r>
                      <a:endParaRPr sz="1400" u="none" cap="none" strike="noStrike"/>
                    </a:p>
                    <a:p>
                      <a:pPr indent="0" lvl="0" marL="0" marR="0" rtl="0" algn="l">
                        <a:lnSpc>
                          <a:spcPct val="100000"/>
                        </a:lnSpc>
                        <a:spcBef>
                          <a:spcPts val="0"/>
                        </a:spcBef>
                        <a:spcAft>
                          <a:spcPts val="0"/>
                        </a:spcAft>
                        <a:buClr>
                          <a:schemeClr val="dk1"/>
                        </a:buClr>
                        <a:buSzPts val="1100"/>
                        <a:buFont typeface="Arial"/>
                        <a:buNone/>
                      </a:pPr>
                      <a:r>
                        <a:rPr lang="es-ES" sz="1400" u="none" cap="none" strike="noStrike"/>
                        <a:t>Cifrado de datos sensibles (usuarios, métodos de pago, historial de compras).</a:t>
                      </a:r>
                      <a:endParaRPr sz="1400" u="none" cap="none" strike="noStrike"/>
                    </a:p>
                    <a:p>
                      <a:pPr indent="0" lvl="0" marL="0" marR="0" rtl="0" algn="l">
                        <a:lnSpc>
                          <a:spcPct val="100000"/>
                        </a:lnSpc>
                        <a:spcBef>
                          <a:spcPts val="0"/>
                        </a:spcBef>
                        <a:spcAft>
                          <a:spcPts val="0"/>
                        </a:spcAft>
                        <a:buClr>
                          <a:schemeClr val="dk1"/>
                        </a:buClr>
                        <a:buSzPts val="1100"/>
                        <a:buFont typeface="Arial"/>
                        <a:buNone/>
                      </a:pPr>
                      <a:r>
                        <a:rPr lang="es-ES" sz="1400" u="none" cap="none" strike="noStrike"/>
                        <a:t>Políticas de privacidad y protección de datos según ley habeas data (Colombia).</a:t>
                      </a:r>
                      <a:endParaRPr sz="1400" u="none" cap="none" strike="noStrike"/>
                    </a:p>
                    <a:p>
                      <a:pPr indent="0" lvl="0" marL="0" marR="0" rtl="0" algn="l">
                        <a:lnSpc>
                          <a:spcPct val="100000"/>
                        </a:lnSpc>
                        <a:spcBef>
                          <a:spcPts val="0"/>
                        </a:spcBef>
                        <a:spcAft>
                          <a:spcPts val="0"/>
                        </a:spcAft>
                        <a:buClr>
                          <a:schemeClr val="dk1"/>
                        </a:buClr>
                        <a:buSzPts val="1100"/>
                        <a:buFont typeface="Arial"/>
                        <a:buNone/>
                      </a:pPr>
                      <a:r>
                        <a:rPr lang="es-ES" sz="1400" u="none" cap="none" strike="noStrike"/>
                        <a:t>Autenticación con doble factor (2FA) para administradores y tatuadores.</a:t>
                      </a:r>
                      <a:endParaRPr sz="1400" u="none" cap="none" strike="noStrike"/>
                    </a:p>
                    <a:p>
                      <a:pPr indent="0" lvl="0" marL="0" marR="0" rtl="0" algn="l">
                        <a:lnSpc>
                          <a:spcPct val="100000"/>
                        </a:lnSpc>
                        <a:spcBef>
                          <a:spcPts val="0"/>
                        </a:spcBef>
                        <a:spcAft>
                          <a:spcPts val="0"/>
                        </a:spcAft>
                        <a:buClr>
                          <a:schemeClr val="dk1"/>
                        </a:buClr>
                        <a:buSzPts val="1100"/>
                        <a:buFont typeface="Arial"/>
                        <a:buNone/>
                      </a:pPr>
                      <a:r>
                        <a:rPr lang="es-ES" sz="1400" u="none" cap="none" strike="noStrike"/>
                        <a:t>Control de roles y permisos (administrador, vendedor, artista, cliente).</a:t>
                      </a:r>
                      <a:endParaRPr sz="1400" u="none" cap="none" strike="noStrike"/>
                    </a:p>
                    <a:p>
                      <a:pPr indent="0" lvl="0" marL="0" marR="0" rtl="0" algn="l">
                        <a:lnSpc>
                          <a:spcPct val="100000"/>
                        </a:lnSpc>
                        <a:spcBef>
                          <a:spcPts val="0"/>
                        </a:spcBef>
                        <a:spcAft>
                          <a:spcPts val="0"/>
                        </a:spcAft>
                        <a:buClr>
                          <a:schemeClr val="dk1"/>
                        </a:buClr>
                        <a:buSzPts val="1100"/>
                        <a:buFont typeface="Arial"/>
                        <a:buNone/>
                      </a:pPr>
                      <a:r>
                        <a:rPr lang="es-ES" sz="1400" u="none" cap="none" strike="noStrike"/>
                        <a:t>Respaldos encriptados de base de datos y almacenamiento de diseños.</a:t>
                      </a:r>
                      <a:endParaRPr sz="1400" u="none" cap="none" strike="noStrike"/>
                    </a:p>
                    <a:p>
                      <a:pPr indent="0" lvl="0" marL="0" marR="0" rtl="0" algn="l">
                        <a:lnSpc>
                          <a:spcPct val="100000"/>
                        </a:lnSpc>
                        <a:spcBef>
                          <a:spcPts val="0"/>
                        </a:spcBef>
                        <a:spcAft>
                          <a:spcPts val="0"/>
                        </a:spcAft>
                        <a:buClr>
                          <a:schemeClr val="dk1"/>
                        </a:buClr>
                        <a:buSzPts val="1100"/>
                        <a:buFont typeface="Arial"/>
                        <a:buNone/>
                      </a:pPr>
                      <a:r>
                        <a:rPr lang="es-ES" sz="1400" u="none" cap="none" strike="noStrike"/>
                        <a:t>Protección antifraude y monitoreo de transacciones en la pasarela de pago.</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lang="es-ES" sz="1400" u="none" cap="none" strike="noStrike"/>
                        <a:t>Protección contra ataques (Firewall, DDoS, antivirus en el servidor).</a:t>
                      </a:r>
                      <a:endParaRPr sz="1400" u="none" cap="none" strike="noStrike"/>
                    </a:p>
                  </a:txBody>
                  <a:tcPr marT="45725" marB="45725" marR="91450" marL="91450"/>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